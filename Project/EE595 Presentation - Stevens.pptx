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32918400" cx="43891200"/>
  <p:notesSz cx="6858000" cy="9144000"/>
  <p:embeddedFontLst>
    <p:embeddedFont>
      <p:font typeface="IBM Plex Sans"/>
      <p:regular r:id="rId22"/>
      <p:bold r:id="rId23"/>
      <p:italic r:id="rId24"/>
      <p:boldItalic r:id="rId25"/>
    </p:embeddedFont>
    <p:embeddedFont>
      <p:font typeface="Saira"/>
      <p:regular r:id="rId26"/>
      <p:bold r:id="rId27"/>
      <p:italic r:id="rId28"/>
      <p:boldItalic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7856">
          <p15:clr>
            <a:srgbClr val="A4A3A4"/>
          </p15:clr>
        </p15:guide>
        <p15:guide id="2" orient="horz" pos="11712">
          <p15:clr>
            <a:srgbClr val="A4A3A4"/>
          </p15:clr>
        </p15:guide>
        <p15:guide id="3" orient="horz" pos="5040">
          <p15:clr>
            <a:srgbClr val="A4A3A4"/>
          </p15:clr>
        </p15:guide>
        <p15:guide id="4" orient="horz" pos="2304">
          <p15:clr>
            <a:srgbClr val="A4A3A4"/>
          </p15:clr>
        </p15:guide>
        <p15:guide id="5" orient="horz" pos="19584">
          <p15:clr>
            <a:srgbClr val="A4A3A4"/>
          </p15:clr>
        </p15:guide>
        <p15:guide id="6" orient="horz" pos="3840">
          <p15:clr>
            <a:srgbClr val="A4A3A4"/>
          </p15:clr>
        </p15:guide>
        <p15:guide id="7" orient="horz" pos="2880">
          <p15:clr>
            <a:srgbClr val="A4A3A4"/>
          </p15:clr>
        </p15:guide>
        <p15:guide id="8" pos="14016">
          <p15:clr>
            <a:srgbClr val="A4A3A4"/>
          </p15:clr>
        </p15:guide>
        <p15:guide id="9" pos="9504">
          <p15:clr>
            <a:srgbClr val="A4A3A4"/>
          </p15:clr>
        </p15:guide>
        <p15:guide id="10" pos="26496">
          <p15:clr>
            <a:srgbClr val="A4A3A4"/>
          </p15:clr>
        </p15:guide>
        <p15:guide id="11" pos="23664">
          <p15:clr>
            <a:srgbClr val="A4A3A4"/>
          </p15:clr>
        </p15:guide>
        <p15:guide id="12" pos="1152">
          <p15:clr>
            <a:srgbClr val="A4A3A4"/>
          </p15:clr>
        </p15:guide>
        <p15:guide id="13" pos="6816">
          <p15:clr>
            <a:srgbClr val="A4A3A4"/>
          </p15:clr>
        </p15:guide>
        <p15:guide id="14" pos="9216">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7856" orient="horz"/>
        <p:guide pos="11712" orient="horz"/>
        <p:guide pos="5040" orient="horz"/>
        <p:guide pos="2304" orient="horz"/>
        <p:guide pos="19584" orient="horz"/>
        <p:guide pos="3840" orient="horz"/>
        <p:guide pos="2880" orient="horz"/>
        <p:guide pos="14016"/>
        <p:guide pos="9504"/>
        <p:guide pos="26496"/>
        <p:guide pos="23664"/>
        <p:guide pos="1152"/>
        <p:guide pos="6816"/>
        <p:guide pos="9216"/>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IBMPlexSans-regular.fntdata"/><Relationship Id="rId21" Type="http://schemas.openxmlformats.org/officeDocument/2006/relationships/slide" Target="slides/slide16.xml"/><Relationship Id="rId24" Type="http://schemas.openxmlformats.org/officeDocument/2006/relationships/font" Target="fonts/IBMPlexSans-italic.fntdata"/><Relationship Id="rId23" Type="http://schemas.openxmlformats.org/officeDocument/2006/relationships/font" Target="fonts/IBMPlexSans-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Saira-regular.fntdata"/><Relationship Id="rId25" Type="http://schemas.openxmlformats.org/officeDocument/2006/relationships/font" Target="fonts/IBMPlexSans-boldItalic.fntdata"/><Relationship Id="rId28" Type="http://schemas.openxmlformats.org/officeDocument/2006/relationships/font" Target="fonts/Saira-italic.fntdata"/><Relationship Id="rId27" Type="http://schemas.openxmlformats.org/officeDocument/2006/relationships/font" Target="fonts/Saira-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Saira-boldItalic.fntdata"/><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91425" lIns="91425" spcFirstLastPara="1" rIns="91425" wrap="square" tIns="91425">
            <a:noAutofit/>
          </a:bodyPr>
          <a:lstStyle>
            <a:lvl1pPr lvl="0" marR="0" rtl="0" algn="l">
              <a:spcBef>
                <a:spcPts val="0"/>
              </a:spcBef>
              <a:spcAft>
                <a:spcPts val="0"/>
              </a:spcAft>
              <a:buSzPts val="1400"/>
              <a:buNone/>
              <a:defRPr b="0" i="0" sz="1400" u="none" cap="none" strike="noStrike">
                <a:solidFill>
                  <a:srgbClr val="000000"/>
                </a:solidFill>
                <a:latin typeface="Arial"/>
                <a:ea typeface="Arial"/>
                <a:cs typeface="Arial"/>
                <a:sym typeface="Arial"/>
              </a:defRPr>
            </a:lvl1pPr>
            <a:lvl2pPr lvl="1" marR="0" rtl="0" algn="l">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91425" lIns="91425" spcFirstLastPara="1" rIns="91425" wrap="square" tIns="91425">
            <a:noAutofit/>
          </a:bodyPr>
          <a:lstStyle>
            <a:lvl1pPr lvl="0" marR="0" rtl="0" algn="r">
              <a:spcBef>
                <a:spcPts val="0"/>
              </a:spcBef>
              <a:spcAft>
                <a:spcPts val="0"/>
              </a:spcAft>
              <a:buSzPts val="1400"/>
              <a:buNone/>
              <a:defRPr b="0" i="0" sz="1400" u="none" cap="none" strike="noStrike">
                <a:solidFill>
                  <a:srgbClr val="000000"/>
                </a:solidFill>
                <a:latin typeface="Arial"/>
                <a:ea typeface="Arial"/>
                <a:cs typeface="Arial"/>
                <a:sym typeface="Arial"/>
              </a:defRPr>
            </a:lvl1pPr>
            <a:lvl2pPr lvl="1" marR="0" rtl="0" algn="l">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lvl1pPr indent="-228600" lvl="0" marL="4572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91425" lIns="91425" spcFirstLastPara="1" rIns="91425" wrap="square" tIns="91425">
            <a:noAutofit/>
          </a:bodyPr>
          <a:lstStyle>
            <a:lvl1pPr lvl="0" marR="0" rtl="0" algn="l">
              <a:spcBef>
                <a:spcPts val="0"/>
              </a:spcBef>
              <a:spcAft>
                <a:spcPts val="0"/>
              </a:spcAft>
              <a:buSzPts val="1400"/>
              <a:buNone/>
              <a:defRPr b="0" i="0" sz="1400" u="none" cap="none" strike="noStrike">
                <a:solidFill>
                  <a:srgbClr val="000000"/>
                </a:solidFill>
                <a:latin typeface="Arial"/>
                <a:ea typeface="Arial"/>
                <a:cs typeface="Arial"/>
                <a:sym typeface="Arial"/>
              </a:defRPr>
            </a:lvl1pPr>
            <a:lvl2pPr lvl="1" marR="0" rtl="0" algn="l">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91425" lIns="91425" spcFirstLastPara="1" rIns="91425" wrap="square" tIns="91425">
            <a:noAutofit/>
          </a:bodyPr>
          <a:lstStyle/>
          <a:p>
            <a:pPr indent="0" lvl="0" marL="0" marR="0" rtl="0" algn="r">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 name="Shape 13"/>
        <p:cNvGrpSpPr/>
        <p:nvPr/>
      </p:nvGrpSpPr>
      <p:grpSpPr>
        <a:xfrm>
          <a:off x="0" y="0"/>
          <a:ext cx="0" cy="0"/>
          <a:chOff x="0" y="0"/>
          <a:chExt cx="0" cy="0"/>
        </a:xfrm>
      </p:grpSpPr>
      <p:sp>
        <p:nvSpPr>
          <p:cNvPr id="14" name="Google Shape;14;g36d3285db5c_1_22: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a:t>Image Credit: </a:t>
            </a:r>
            <a:r>
              <a:rPr lang="en-US"/>
              <a:t>https://www.researchgate.net/figure/Time-Series-components-1-A-time-series-is-a-sequence-of-observations-measured-at_fig1_344658764</a:t>
            </a:r>
            <a:endParaRPr/>
          </a:p>
          <a:p>
            <a:pPr indent="0" lvl="0" marL="0" rtl="0" algn="l">
              <a:spcBef>
                <a:spcPts val="0"/>
              </a:spcBef>
              <a:spcAft>
                <a:spcPts val="0"/>
              </a:spcAft>
              <a:buNone/>
            </a:pPr>
            <a:r>
              <a:t/>
            </a:r>
            <a:endParaRPr/>
          </a:p>
          <a:p>
            <a:pPr indent="0" lvl="0" marL="0" rtl="0" algn="l">
              <a:spcBef>
                <a:spcPts val="360"/>
              </a:spcBef>
              <a:spcAft>
                <a:spcPts val="0"/>
              </a:spcAft>
              <a:buClr>
                <a:schemeClr val="dk1"/>
              </a:buClr>
              <a:buSzPts val="1100"/>
              <a:buFont typeface="Arial"/>
              <a:buNone/>
            </a:pPr>
            <a:r>
              <a:rPr lang="en-US"/>
              <a:t>Financial forecasting presents challenges due to the chaotic, noisy, and nonlinear nature of market data.  This paper investigates the application of deep learning techniques for time-series price prediction in financial markets, focusing on daily OHLCV data. The study compares three models: Ordinary Least Squares (OLS), Patch Time Series Transformer (PatchTST), and a custom Long Short-Term Memory (LSTM) architecture. </a:t>
            </a:r>
            <a:endParaRPr/>
          </a:p>
        </p:txBody>
      </p:sp>
      <p:sp>
        <p:nvSpPr>
          <p:cNvPr id="15" name="Google Shape;15;g36d3285db5c_1_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 name="Shape 22"/>
        <p:cNvGrpSpPr/>
        <p:nvPr/>
      </p:nvGrpSpPr>
      <p:grpSpPr>
        <a:xfrm>
          <a:off x="0" y="0"/>
          <a:ext cx="0" cy="0"/>
          <a:chOff x="0" y="0"/>
          <a:chExt cx="0" cy="0"/>
        </a:xfrm>
      </p:grpSpPr>
      <p:sp>
        <p:nvSpPr>
          <p:cNvPr id="23" name="Google Shape;23;g36d3285db5c_1_64: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t>The objective of our research is to develop a state of the art model using deep learning techniques that matches or exceeds existing methods such as Ordinary Least Squares (OLS) and Patch Time Series Transformer (PatchTST) using only the daily OHCLV (Open, High, Low, Close, Volume) features supplemented with additional custom features that can be generated from this data. During our research we have implemented OLS, PatchTST and a custom LSTM deep learning architecture. The custom LSTM deep learning model did in fact exceed the performance of both OLS and PatchTST while at the same time being generalizable to additional assets.</a:t>
            </a:r>
            <a:endParaRPr/>
          </a:p>
          <a:p>
            <a:pPr indent="0" lvl="0" marL="0" rtl="0" algn="l">
              <a:spcBef>
                <a:spcPts val="0"/>
              </a:spcBef>
              <a:spcAft>
                <a:spcPts val="0"/>
              </a:spcAft>
              <a:buNone/>
            </a:pPr>
            <a:r>
              <a:t/>
            </a:r>
            <a:endParaRPr/>
          </a:p>
        </p:txBody>
      </p:sp>
      <p:sp>
        <p:nvSpPr>
          <p:cNvPr id="24" name="Google Shape;24;g36d3285db5c_1_6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 name="Shape 31"/>
        <p:cNvGrpSpPr/>
        <p:nvPr/>
      </p:nvGrpSpPr>
      <p:grpSpPr>
        <a:xfrm>
          <a:off x="0" y="0"/>
          <a:ext cx="0" cy="0"/>
          <a:chOff x="0" y="0"/>
          <a:chExt cx="0" cy="0"/>
        </a:xfrm>
      </p:grpSpPr>
      <p:sp>
        <p:nvSpPr>
          <p:cNvPr id="32" name="Google Shape;32;g36d3285db5c_1_88: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g36d3285db5c_1_8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 name="Shape 40"/>
        <p:cNvGrpSpPr/>
        <p:nvPr/>
      </p:nvGrpSpPr>
      <p:grpSpPr>
        <a:xfrm>
          <a:off x="0" y="0"/>
          <a:ext cx="0" cy="0"/>
          <a:chOff x="0" y="0"/>
          <a:chExt cx="0" cy="0"/>
        </a:xfrm>
      </p:grpSpPr>
      <p:sp>
        <p:nvSpPr>
          <p:cNvPr id="41" name="Google Shape;41;g36d3285db5c_1_1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2" name="Google Shape;42;g36d3285db5c_1_117:notes"/>
          <p:cNvSpPr txBox="1"/>
          <p:nvPr>
            <p:ph idx="1" type="body"/>
          </p:nvPr>
        </p:nvSpPr>
        <p:spPr>
          <a:xfrm>
            <a:off x="685800" y="4343400"/>
            <a:ext cx="5486400" cy="4114800"/>
          </a:xfrm>
          <a:prstGeom prst="rect">
            <a:avLst/>
          </a:prstGeom>
        </p:spPr>
        <p:txBody>
          <a:bodyPr anchorCtr="0" anchor="ctr" bIns="91425" lIns="91425" spcFirstLastPara="1" rIns="91425" wrap="square" tIns="91425">
            <a:noAutofit/>
          </a:bodyPr>
          <a:lstStyle/>
          <a:p>
            <a:pPr indent="0" lvl="0" marL="0" rtl="0" algn="l">
              <a:spcBef>
                <a:spcPts val="360"/>
              </a:spcBef>
              <a:spcAft>
                <a:spcPts val="0"/>
              </a:spcAft>
              <a:buNone/>
            </a:pPr>
            <a:r>
              <a:t/>
            </a:r>
            <a:endParaRPr/>
          </a:p>
        </p:txBody>
      </p:sp>
      <p:sp>
        <p:nvSpPr>
          <p:cNvPr id="43" name="Google Shape;43;g36d3285db5c_1_117:notes"/>
          <p:cNvSpPr txBox="1"/>
          <p:nvPr>
            <p:ph idx="12" type="sldNum"/>
          </p:nvPr>
        </p:nvSpPr>
        <p:spPr>
          <a:xfrm>
            <a:off x="3884613" y="8685213"/>
            <a:ext cx="2971800" cy="4572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 name="Shape 48"/>
        <p:cNvGrpSpPr/>
        <p:nvPr/>
      </p:nvGrpSpPr>
      <p:grpSpPr>
        <a:xfrm>
          <a:off x="0" y="0"/>
          <a:ext cx="0" cy="0"/>
          <a:chOff x="0" y="0"/>
          <a:chExt cx="0" cy="0"/>
        </a:xfrm>
      </p:grpSpPr>
      <p:sp>
        <p:nvSpPr>
          <p:cNvPr id="49" name="Google Shape;49;g36d3285db5c_1_1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0" name="Google Shape;50;g36d3285db5c_1_111:notes"/>
          <p:cNvSpPr txBox="1"/>
          <p:nvPr>
            <p:ph idx="1" type="body"/>
          </p:nvPr>
        </p:nvSpPr>
        <p:spPr>
          <a:xfrm>
            <a:off x="685800" y="4343400"/>
            <a:ext cx="5486400" cy="4114800"/>
          </a:xfrm>
          <a:prstGeom prst="rect">
            <a:avLst/>
          </a:prstGeom>
        </p:spPr>
        <p:txBody>
          <a:bodyPr anchorCtr="0" anchor="ctr" bIns="91425" lIns="91425" spcFirstLastPara="1" rIns="91425" wrap="square" tIns="91425">
            <a:noAutofit/>
          </a:bodyPr>
          <a:lstStyle/>
          <a:p>
            <a:pPr indent="0" lvl="0" marL="0" rtl="0" algn="l">
              <a:spcBef>
                <a:spcPts val="360"/>
              </a:spcBef>
              <a:spcAft>
                <a:spcPts val="0"/>
              </a:spcAft>
              <a:buNone/>
            </a:pPr>
            <a:r>
              <a:t/>
            </a:r>
            <a:endParaRPr/>
          </a:p>
        </p:txBody>
      </p:sp>
      <p:sp>
        <p:nvSpPr>
          <p:cNvPr id="51" name="Google Shape;51;g36d3285db5c_1_111:notes"/>
          <p:cNvSpPr txBox="1"/>
          <p:nvPr>
            <p:ph idx="12" type="sldNum"/>
          </p:nvPr>
        </p:nvSpPr>
        <p:spPr>
          <a:xfrm>
            <a:off x="3884613" y="8685213"/>
            <a:ext cx="2971800" cy="4572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Clr>
                <a:srgbClr val="000000"/>
              </a:buClr>
              <a:buFont typeface="Arial"/>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6d34d47d0b_0_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6d34d47d0b_0_5:notes"/>
          <p:cNvSpPr txBox="1"/>
          <p:nvPr>
            <p:ph idx="1" type="body"/>
          </p:nvPr>
        </p:nvSpPr>
        <p:spPr>
          <a:xfrm>
            <a:off x="685800" y="4343400"/>
            <a:ext cx="5486400" cy="4114800"/>
          </a:xfrm>
          <a:prstGeom prst="rect">
            <a:avLst/>
          </a:prstGeom>
        </p:spPr>
        <p:txBody>
          <a:bodyPr anchorCtr="0" anchor="ctr" bIns="91425" lIns="91425" spcFirstLastPara="1" rIns="91425" wrap="square" tIns="91425">
            <a:noAutofit/>
          </a:bodyPr>
          <a:lstStyle/>
          <a:p>
            <a:pPr indent="0" lvl="0" marL="0" rtl="0" algn="l">
              <a:spcBef>
                <a:spcPts val="360"/>
              </a:spcBef>
              <a:spcAft>
                <a:spcPts val="0"/>
              </a:spcAft>
              <a:buNone/>
            </a:pPr>
            <a:r>
              <a:rPr lang="en-US" sz="1100"/>
              <a:t>This first graph shows the Actual Average Tech Stock Return for the next day (blue line) against our OLS model's In-Sample Prediction (red dashed line). We can observe how closely the red dashed line follows the blue line. A perfect prediction would mean the lines overlap perfectly. From this visual, we can gauge if our OLS model is capturing the general trends or patterns in tech stock returns, even if it's not perfectly precise on a day-to-day basis. We typically expect OLS to struggle more with the high volatility of daily stock returns, which is often a very noisy signal.</a:t>
            </a:r>
            <a:endParaRPr/>
          </a:p>
        </p:txBody>
      </p:sp>
      <p:sp>
        <p:nvSpPr>
          <p:cNvPr id="59" name="Google Shape;59;g36d34d47d0b_0_5:notes"/>
          <p:cNvSpPr txBox="1"/>
          <p:nvPr>
            <p:ph idx="12" type="sldNum"/>
          </p:nvPr>
        </p:nvSpPr>
        <p:spPr>
          <a:xfrm>
            <a:off x="3884613" y="8685213"/>
            <a:ext cx="2971800" cy="4572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Clr>
                <a:srgbClr val="000000"/>
              </a:buClr>
              <a:buFont typeface="Arial"/>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3448fea0a89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3448fea0a89_0_0:notes"/>
          <p:cNvSpPr txBox="1"/>
          <p:nvPr>
            <p:ph idx="1" type="body"/>
          </p:nvPr>
        </p:nvSpPr>
        <p:spPr>
          <a:xfrm>
            <a:off x="685800" y="4343400"/>
            <a:ext cx="5486400" cy="4114800"/>
          </a:xfrm>
          <a:prstGeom prst="rect">
            <a:avLst/>
          </a:prstGeom>
        </p:spPr>
        <p:txBody>
          <a:bodyPr anchorCtr="0" anchor="ctr" bIns="91425" lIns="91425" spcFirstLastPara="1" rIns="91425" wrap="square" tIns="91425">
            <a:noAutofit/>
          </a:bodyPr>
          <a:lstStyle/>
          <a:p>
            <a:pPr indent="0" lvl="0" marL="0" rtl="0" algn="l">
              <a:spcBef>
                <a:spcPts val="360"/>
              </a:spcBef>
              <a:spcAft>
                <a:spcPts val="0"/>
              </a:spcAft>
              <a:buNone/>
            </a:pPr>
            <a:r>
              <a:rPr lang="en-US" sz="1100"/>
              <a:t>Similarly, this second graph visualizes the Actual Bond Price Change (blue line) versus the OLS model's In-Sample Prediction (red dashed line). Bond prices, specifically long-term treasuries like TLT, tend to be less volatile than individual tech stocks. We might expect the OLS model to show a somewhat better fit here, potentially capturing more of the underlying trend or magnitude of daily changes. This graph helps us see if the model has learned the relationship between our features and the bond market's daily fluctuations. While these plots give us an initial visual sense of the model's fit, remember that in-sample performance doesn't directly translate to out-of-sample (future) performance. The real test comes when we evaluate the model on data it has </a:t>
            </a:r>
            <a:r>
              <a:rPr i="1" lang="en-US" sz="1100"/>
              <a:t>never seen before</a:t>
            </a:r>
            <a:r>
              <a:rPr lang="en-US" sz="1100"/>
              <a:t> – which is why robust walk-forward validation is critical. These plots primarily confirm that the model is indeed learning </a:t>
            </a:r>
            <a:r>
              <a:rPr i="1" lang="en-US" sz="1100"/>
              <a:t>something</a:t>
            </a:r>
            <a:r>
              <a:rPr lang="en-US" sz="1100"/>
              <a:t> from the data it's given.</a:t>
            </a:r>
            <a:endParaRPr/>
          </a:p>
        </p:txBody>
      </p:sp>
      <p:sp>
        <p:nvSpPr>
          <p:cNvPr id="67" name="Google Shape;67;g3448fea0a89_0_0:notes"/>
          <p:cNvSpPr txBox="1"/>
          <p:nvPr>
            <p:ph idx="12" type="sldNum"/>
          </p:nvPr>
        </p:nvSpPr>
        <p:spPr>
          <a:xfrm>
            <a:off x="3884613" y="8685213"/>
            <a:ext cx="2971800" cy="4572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Clr>
                <a:srgbClr val="000000"/>
              </a:buClr>
              <a:buFont typeface="Arial"/>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6d3285db5c_1_15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36d3285db5c_1_150:notes"/>
          <p:cNvSpPr txBox="1"/>
          <p:nvPr>
            <p:ph idx="1" type="body"/>
          </p:nvPr>
        </p:nvSpPr>
        <p:spPr>
          <a:xfrm>
            <a:off x="685800" y="4343400"/>
            <a:ext cx="5486400" cy="4114800"/>
          </a:xfrm>
          <a:prstGeom prst="rect">
            <a:avLst/>
          </a:prstGeom>
        </p:spPr>
        <p:txBody>
          <a:bodyPr anchorCtr="0" anchor="ctr" bIns="91425" lIns="91425" spcFirstLastPara="1" rIns="91425" wrap="square" tIns="91425">
            <a:noAutofit/>
          </a:bodyPr>
          <a:lstStyle/>
          <a:p>
            <a:pPr indent="0" lvl="0" marL="0" rtl="0" algn="l">
              <a:spcBef>
                <a:spcPts val="360"/>
              </a:spcBef>
              <a:spcAft>
                <a:spcPts val="0"/>
              </a:spcAft>
              <a:buNone/>
            </a:pPr>
            <a:r>
              <a:rPr lang="en-US" sz="1100"/>
              <a:t>Our OLS model's performance for predicting OS Equity prices is displayed here. The actual historical equity data is shown in blue, with our model's predictions in dashed red. This graph provides a clear view of how effectively our linear regression model, utilizing its given features, captures the general trajectory and critical shifts in this key equity market.</a:t>
            </a:r>
            <a:endParaRPr/>
          </a:p>
        </p:txBody>
      </p:sp>
      <p:sp>
        <p:nvSpPr>
          <p:cNvPr id="75" name="Google Shape;75;g36d3285db5c_1_150:notes"/>
          <p:cNvSpPr txBox="1"/>
          <p:nvPr>
            <p:ph idx="12" type="sldNum"/>
          </p:nvPr>
        </p:nvSpPr>
        <p:spPr>
          <a:xfrm>
            <a:off x="3884613" y="8685213"/>
            <a:ext cx="2971800" cy="4572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Clr>
                <a:srgbClr val="000000"/>
              </a:buClr>
              <a:buFont typeface="Arial"/>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6d3285db5c_1_15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6d3285db5c_1_155:notes"/>
          <p:cNvSpPr txBox="1"/>
          <p:nvPr>
            <p:ph idx="1" type="body"/>
          </p:nvPr>
        </p:nvSpPr>
        <p:spPr>
          <a:xfrm>
            <a:off x="685800" y="4343400"/>
            <a:ext cx="5486400" cy="4114800"/>
          </a:xfrm>
          <a:prstGeom prst="rect">
            <a:avLst/>
          </a:prstGeom>
        </p:spPr>
        <p:txBody>
          <a:bodyPr anchorCtr="0" anchor="ctr" bIns="91425" lIns="91425" spcFirstLastPara="1" rIns="91425" wrap="square" tIns="91425">
            <a:noAutofit/>
          </a:bodyPr>
          <a:lstStyle/>
          <a:p>
            <a:pPr indent="0" lvl="0" marL="0" rtl="0" algn="l">
              <a:spcBef>
                <a:spcPts val="360"/>
              </a:spcBef>
              <a:spcAft>
                <a:spcPts val="0"/>
              </a:spcAft>
              <a:buNone/>
            </a:pPr>
            <a:r>
              <a:rPr lang="en-US" sz="1100"/>
              <a:t>Here we see the performance of our OLS model for predicting the US 10-Year Treasury Bond yield. The blue line represents the actual historical 10-year yield, while the dashed red line shows our model's predictions. This visualization helps us understand how well our linear regression model is able to track and explain movements in bond yields based on the features we've provided it. We're observing if the model captures the general trend and turning points in this critical interest rate.</a:t>
            </a:r>
            <a:endParaRPr/>
          </a:p>
        </p:txBody>
      </p:sp>
      <p:sp>
        <p:nvSpPr>
          <p:cNvPr id="83" name="Google Shape;83;g36d3285db5c_1_155:notes"/>
          <p:cNvSpPr txBox="1"/>
          <p:nvPr>
            <p:ph idx="12" type="sldNum"/>
          </p:nvPr>
        </p:nvSpPr>
        <p:spPr>
          <a:xfrm>
            <a:off x="3884613" y="8685213"/>
            <a:ext cx="2971800" cy="4572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Clr>
                <a:srgbClr val="000000"/>
              </a:buClr>
              <a:buFont typeface="Arial"/>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6d3285db5c_1_95: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g36d3285db5c_1_9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6d3285db5c_1_1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36d3285db5c_1_138:notes"/>
          <p:cNvSpPr txBox="1"/>
          <p:nvPr>
            <p:ph idx="1" type="body"/>
          </p:nvPr>
        </p:nvSpPr>
        <p:spPr>
          <a:xfrm>
            <a:off x="685800" y="4343400"/>
            <a:ext cx="5486400" cy="4114800"/>
          </a:xfrm>
          <a:prstGeom prst="rect">
            <a:avLst/>
          </a:prstGeom>
        </p:spPr>
        <p:txBody>
          <a:bodyPr anchorCtr="0" anchor="ctr" bIns="91425" lIns="91425" spcFirstLastPara="1" rIns="91425" wrap="square" tIns="91425">
            <a:noAutofit/>
          </a:bodyPr>
          <a:lstStyle/>
          <a:p>
            <a:pPr indent="0" lvl="0" marL="0" rtl="0" algn="l">
              <a:spcBef>
                <a:spcPts val="360"/>
              </a:spcBef>
              <a:spcAft>
                <a:spcPts val="0"/>
              </a:spcAft>
              <a:buNone/>
            </a:pPr>
            <a:r>
              <a:t/>
            </a:r>
            <a:endParaRPr/>
          </a:p>
        </p:txBody>
      </p:sp>
      <p:sp>
        <p:nvSpPr>
          <p:cNvPr id="100" name="Google Shape;100;g36d3285db5c_1_138:notes"/>
          <p:cNvSpPr txBox="1"/>
          <p:nvPr>
            <p:ph idx="12" type="sldNum"/>
          </p:nvPr>
        </p:nvSpPr>
        <p:spPr>
          <a:xfrm>
            <a:off x="3884613" y="8685213"/>
            <a:ext cx="2971800" cy="4572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Clr>
                <a:srgbClr val="000000"/>
              </a:buClr>
              <a:buFont typeface="Arial"/>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6d3285db5c_1_14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6d3285db5c_1_144:notes"/>
          <p:cNvSpPr txBox="1"/>
          <p:nvPr>
            <p:ph idx="1" type="body"/>
          </p:nvPr>
        </p:nvSpPr>
        <p:spPr>
          <a:xfrm>
            <a:off x="685800" y="4343400"/>
            <a:ext cx="5486400" cy="4114800"/>
          </a:xfrm>
          <a:prstGeom prst="rect">
            <a:avLst/>
          </a:prstGeom>
        </p:spPr>
        <p:txBody>
          <a:bodyPr anchorCtr="0" anchor="ctr" bIns="91425" lIns="91425" spcFirstLastPara="1" rIns="91425" wrap="square" tIns="91425">
            <a:noAutofit/>
          </a:bodyPr>
          <a:lstStyle/>
          <a:p>
            <a:pPr indent="0" lvl="0" marL="0" rtl="0" algn="l">
              <a:spcBef>
                <a:spcPts val="360"/>
              </a:spcBef>
              <a:spcAft>
                <a:spcPts val="0"/>
              </a:spcAft>
              <a:buNone/>
            </a:pPr>
            <a:r>
              <a:t/>
            </a:r>
            <a:endParaRPr/>
          </a:p>
        </p:txBody>
      </p:sp>
      <p:sp>
        <p:nvSpPr>
          <p:cNvPr id="108" name="Google Shape;108;g36d3285db5c_1_144:notes"/>
          <p:cNvSpPr txBox="1"/>
          <p:nvPr>
            <p:ph idx="12" type="sldNum"/>
          </p:nvPr>
        </p:nvSpPr>
        <p:spPr>
          <a:xfrm>
            <a:off x="3884613" y="8685213"/>
            <a:ext cx="2971800" cy="4572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Clr>
                <a:srgbClr val="000000"/>
              </a:buClr>
              <a:buFont typeface="Arial"/>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6d3285db5c_1_18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6d3285db5c_1_184:notes"/>
          <p:cNvSpPr txBox="1"/>
          <p:nvPr>
            <p:ph idx="1" type="body"/>
          </p:nvPr>
        </p:nvSpPr>
        <p:spPr>
          <a:xfrm>
            <a:off x="685800" y="4343400"/>
            <a:ext cx="5486400" cy="4114800"/>
          </a:xfrm>
          <a:prstGeom prst="rect">
            <a:avLst/>
          </a:prstGeom>
        </p:spPr>
        <p:txBody>
          <a:bodyPr anchorCtr="0" anchor="ctr" bIns="91425" lIns="91425" spcFirstLastPara="1" rIns="91425" wrap="square" tIns="91425">
            <a:noAutofit/>
          </a:bodyPr>
          <a:lstStyle/>
          <a:p>
            <a:pPr indent="0" lvl="0" marL="0" rtl="0" algn="l">
              <a:spcBef>
                <a:spcPts val="360"/>
              </a:spcBef>
              <a:spcAft>
                <a:spcPts val="0"/>
              </a:spcAft>
              <a:buNone/>
            </a:pPr>
            <a:r>
              <a:t/>
            </a:r>
            <a:endParaRPr/>
          </a:p>
        </p:txBody>
      </p:sp>
      <p:sp>
        <p:nvSpPr>
          <p:cNvPr id="116" name="Google Shape;116;g36d3285db5c_1_184:notes"/>
          <p:cNvSpPr txBox="1"/>
          <p:nvPr>
            <p:ph idx="12" type="sldNum"/>
          </p:nvPr>
        </p:nvSpPr>
        <p:spPr>
          <a:xfrm>
            <a:off x="3884613" y="8685213"/>
            <a:ext cx="2971800" cy="4572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Clr>
                <a:srgbClr val="000000"/>
              </a:buClr>
              <a:buFont typeface="Arial"/>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6d3285db5c_1_1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36d3285db5c_1_123:notes"/>
          <p:cNvSpPr txBox="1"/>
          <p:nvPr>
            <p:ph idx="1" type="body"/>
          </p:nvPr>
        </p:nvSpPr>
        <p:spPr>
          <a:xfrm>
            <a:off x="685800" y="4343400"/>
            <a:ext cx="5486400" cy="4114800"/>
          </a:xfrm>
          <a:prstGeom prst="rect">
            <a:avLst/>
          </a:prstGeom>
        </p:spPr>
        <p:txBody>
          <a:bodyPr anchorCtr="0" anchor="ctr" bIns="91425" lIns="91425" spcFirstLastPara="1" rIns="91425" wrap="square" tIns="91425">
            <a:noAutofit/>
          </a:bodyPr>
          <a:lstStyle/>
          <a:p>
            <a:pPr indent="0" lvl="0" marL="0" rtl="0" algn="l">
              <a:spcBef>
                <a:spcPts val="360"/>
              </a:spcBef>
              <a:spcAft>
                <a:spcPts val="0"/>
              </a:spcAft>
              <a:buNone/>
            </a:pPr>
            <a:r>
              <a:t/>
            </a:r>
            <a:endParaRPr/>
          </a:p>
        </p:txBody>
      </p:sp>
      <p:sp>
        <p:nvSpPr>
          <p:cNvPr id="124" name="Google Shape;124;g36d3285db5c_1_123:notes"/>
          <p:cNvSpPr txBox="1"/>
          <p:nvPr>
            <p:ph idx="12" type="sldNum"/>
          </p:nvPr>
        </p:nvSpPr>
        <p:spPr>
          <a:xfrm>
            <a:off x="3884613" y="8685213"/>
            <a:ext cx="2971800" cy="4572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Clr>
                <a:srgbClr val="000000"/>
              </a:buClr>
              <a:buFont typeface="Arial"/>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6d3285db5c_1_1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36d3285db5c_1_131:notes"/>
          <p:cNvSpPr txBox="1"/>
          <p:nvPr>
            <p:ph idx="1" type="body"/>
          </p:nvPr>
        </p:nvSpPr>
        <p:spPr>
          <a:xfrm>
            <a:off x="685800" y="4343400"/>
            <a:ext cx="5486400" cy="4114800"/>
          </a:xfrm>
          <a:prstGeom prst="rect">
            <a:avLst/>
          </a:prstGeom>
        </p:spPr>
        <p:txBody>
          <a:bodyPr anchorCtr="0" anchor="ctr" bIns="91425" lIns="91425" spcFirstLastPara="1" rIns="91425" wrap="square" tIns="91425">
            <a:noAutofit/>
          </a:bodyPr>
          <a:lstStyle/>
          <a:p>
            <a:pPr indent="0" lvl="0" marL="0" rtl="0" algn="l">
              <a:spcBef>
                <a:spcPts val="360"/>
              </a:spcBef>
              <a:spcAft>
                <a:spcPts val="0"/>
              </a:spcAft>
              <a:buNone/>
            </a:pPr>
            <a:r>
              <a:t/>
            </a:r>
            <a:endParaRPr/>
          </a:p>
        </p:txBody>
      </p:sp>
      <p:sp>
        <p:nvSpPr>
          <p:cNvPr id="132" name="Google Shape;132;g36d3285db5c_1_131:notes"/>
          <p:cNvSpPr txBox="1"/>
          <p:nvPr>
            <p:ph idx="12" type="sldNum"/>
          </p:nvPr>
        </p:nvSpPr>
        <p:spPr>
          <a:xfrm>
            <a:off x="3884613" y="8685213"/>
            <a:ext cx="2971800" cy="4572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Clr>
                <a:srgbClr val="000000"/>
              </a:buClr>
              <a:buFont typeface="Arial"/>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6d3285db5c_1_17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6d3285db5c_1_176:notes"/>
          <p:cNvSpPr txBox="1"/>
          <p:nvPr>
            <p:ph idx="1" type="body"/>
          </p:nvPr>
        </p:nvSpPr>
        <p:spPr>
          <a:xfrm>
            <a:off x="685800" y="4343400"/>
            <a:ext cx="5486400" cy="4114800"/>
          </a:xfrm>
          <a:prstGeom prst="rect">
            <a:avLst/>
          </a:prstGeom>
        </p:spPr>
        <p:txBody>
          <a:bodyPr anchorCtr="0" anchor="ctr" bIns="91425" lIns="91425" spcFirstLastPara="1" rIns="91425" wrap="square" tIns="91425">
            <a:noAutofit/>
          </a:bodyPr>
          <a:lstStyle/>
          <a:p>
            <a:pPr indent="0" lvl="0" marL="0" rtl="0" algn="l">
              <a:spcBef>
                <a:spcPts val="360"/>
              </a:spcBef>
              <a:spcAft>
                <a:spcPts val="0"/>
              </a:spcAft>
              <a:buNone/>
            </a:pPr>
            <a:r>
              <a:rPr lang="en-US"/>
              <a:t>Conclusion</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We were successful in developing a traditional, contemporary and frontier model for price prediction.  Comparing the models indicates that the LSTM deep learning approach holds considerable promise and further research in this area should be conducted.</a:t>
            </a:r>
            <a:endParaRPr/>
          </a:p>
          <a:p>
            <a:pPr indent="0" lvl="0" marL="0" rtl="0" algn="l">
              <a:spcBef>
                <a:spcPts val="360"/>
              </a:spcBef>
              <a:spcAft>
                <a:spcPts val="0"/>
              </a:spcAft>
              <a:buNone/>
            </a:pPr>
            <a:r>
              <a:t/>
            </a:r>
            <a:endParaRPr/>
          </a:p>
          <a:p>
            <a:pPr indent="0" lvl="0" marL="0" rtl="0" algn="l">
              <a:spcBef>
                <a:spcPts val="360"/>
              </a:spcBef>
              <a:spcAft>
                <a:spcPts val="0"/>
              </a:spcAft>
              <a:buNone/>
            </a:pPr>
            <a:r>
              <a:t/>
            </a:r>
            <a:endParaRPr/>
          </a:p>
        </p:txBody>
      </p:sp>
      <p:sp>
        <p:nvSpPr>
          <p:cNvPr id="140" name="Google Shape;140;g36d3285db5c_1_176:notes"/>
          <p:cNvSpPr txBox="1"/>
          <p:nvPr>
            <p:ph idx="12" type="sldNum"/>
          </p:nvPr>
        </p:nvSpPr>
        <p:spPr>
          <a:xfrm>
            <a:off x="3884613" y="8685213"/>
            <a:ext cx="2971800" cy="4572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Clr>
                <a:srgbClr val="000000"/>
              </a:buClr>
              <a:buFont typeface="Arial"/>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1" name="Shape 11"/>
        <p:cNvGrpSpPr/>
        <p:nvPr/>
      </p:nvGrpSpPr>
      <p:grpSpPr>
        <a:xfrm>
          <a:off x="0" y="0"/>
          <a:ext cx="0" cy="0"/>
          <a:chOff x="0" y="0"/>
          <a:chExt cx="0" cy="0"/>
        </a:xfrm>
      </p:grpSpPr>
      <p:sp>
        <p:nvSpPr>
          <p:cNvPr id="12" name="Google Shape;12;p2"/>
          <p:cNvSpPr txBox="1"/>
          <p:nvPr/>
        </p:nvSpPr>
        <p:spPr>
          <a:xfrm>
            <a:off x="41489313" y="3302000"/>
            <a:ext cx="184150" cy="3079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1.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pic>
        <p:nvPicPr>
          <p:cNvPr descr="Poster 48x36 NEW.jpg" id="10" name="Google Shape;10;p1"/>
          <p:cNvPicPr preferRelativeResize="0"/>
          <p:nvPr/>
        </p:nvPicPr>
        <p:blipFill rotWithShape="1">
          <a:blip r:embed="rId1">
            <a:alphaModFix/>
          </a:blip>
          <a:srcRect b="0" l="0" r="0" t="0"/>
          <a:stretch/>
        </p:blipFill>
        <p:spPr>
          <a:xfrm>
            <a:off x="0" y="0"/>
            <a:ext cx="43891200" cy="3291840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 name="Shape 16"/>
        <p:cNvGrpSpPr/>
        <p:nvPr/>
      </p:nvGrpSpPr>
      <p:grpSpPr>
        <a:xfrm>
          <a:off x="0" y="0"/>
          <a:ext cx="0" cy="0"/>
          <a:chOff x="0" y="0"/>
          <a:chExt cx="0" cy="0"/>
        </a:xfrm>
      </p:grpSpPr>
      <p:sp>
        <p:nvSpPr>
          <p:cNvPr id="17" name="Google Shape;17;p3"/>
          <p:cNvSpPr txBox="1"/>
          <p:nvPr/>
        </p:nvSpPr>
        <p:spPr>
          <a:xfrm>
            <a:off x="14571663" y="-1136650"/>
            <a:ext cx="184200" cy="1431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8" name="Google Shape;18;p3"/>
          <p:cNvSpPr txBox="1"/>
          <p:nvPr/>
        </p:nvSpPr>
        <p:spPr>
          <a:xfrm>
            <a:off x="1447800" y="1524000"/>
            <a:ext cx="38404800" cy="2286000"/>
          </a:xfrm>
          <a:prstGeom prst="rect">
            <a:avLst/>
          </a:prstGeom>
          <a:noFill/>
          <a:ln>
            <a:noFill/>
          </a:ln>
        </p:spPr>
        <p:txBody>
          <a:bodyPr anchorCtr="0" anchor="t" bIns="219450" lIns="438900" spcFirstLastPara="1" rIns="438900" wrap="square" tIns="219450">
            <a:noAutofit/>
          </a:bodyPr>
          <a:lstStyle/>
          <a:p>
            <a:pPr indent="-342900" lvl="0" marL="342900" marR="0" rtl="0" algn="l">
              <a:spcBef>
                <a:spcPts val="0"/>
              </a:spcBef>
              <a:spcAft>
                <a:spcPts val="0"/>
              </a:spcAft>
              <a:buNone/>
            </a:pPr>
            <a:r>
              <a:rPr b="1" lang="en-US" sz="12500">
                <a:latin typeface="Saira"/>
                <a:ea typeface="Saira"/>
                <a:cs typeface="Saira"/>
                <a:sym typeface="Saira"/>
              </a:rPr>
              <a:t>Time Series Price Prediction</a:t>
            </a:r>
            <a:endParaRPr/>
          </a:p>
        </p:txBody>
      </p:sp>
      <p:sp>
        <p:nvSpPr>
          <p:cNvPr id="19" name="Google Shape;19;p3"/>
          <p:cNvSpPr txBox="1"/>
          <p:nvPr/>
        </p:nvSpPr>
        <p:spPr>
          <a:xfrm>
            <a:off x="1447800" y="5105400"/>
            <a:ext cx="34899600" cy="2286000"/>
          </a:xfrm>
          <a:prstGeom prst="rect">
            <a:avLst/>
          </a:prstGeom>
          <a:noFill/>
          <a:ln>
            <a:noFill/>
          </a:ln>
        </p:spPr>
        <p:txBody>
          <a:bodyPr anchorCtr="0" anchor="t" bIns="219450" lIns="438900" spcFirstLastPara="1" rIns="438900" wrap="square" tIns="219450">
            <a:noAutofit/>
          </a:bodyPr>
          <a:lstStyle/>
          <a:p>
            <a:pPr indent="-342900" lvl="0" marL="342900" marR="0" rtl="0" algn="l">
              <a:spcBef>
                <a:spcPts val="0"/>
              </a:spcBef>
              <a:spcAft>
                <a:spcPts val="0"/>
              </a:spcAft>
              <a:buNone/>
            </a:pPr>
            <a:r>
              <a:rPr b="1" lang="en-US" sz="6000">
                <a:latin typeface="IBM Plex Sans"/>
                <a:ea typeface="IBM Plex Sans"/>
                <a:cs typeface="IBM Plex Sans"/>
                <a:sym typeface="IBM Plex Sans"/>
              </a:rPr>
              <a:t>John Rizzo</a:t>
            </a:r>
            <a:r>
              <a:rPr b="1" i="0" lang="en-US" sz="6000" u="none" cap="none" strike="noStrike">
                <a:solidFill>
                  <a:srgbClr val="000000"/>
                </a:solidFill>
                <a:latin typeface="IBM Plex Sans"/>
                <a:ea typeface="IBM Plex Sans"/>
                <a:cs typeface="IBM Plex Sans"/>
                <a:sym typeface="IBM Plex Sans"/>
              </a:rPr>
              <a:t>, </a:t>
            </a:r>
            <a:r>
              <a:rPr b="1" lang="en-US" sz="6000">
                <a:latin typeface="IBM Plex Sans"/>
                <a:ea typeface="IBM Plex Sans"/>
                <a:cs typeface="IBM Plex Sans"/>
                <a:sym typeface="IBM Plex Sans"/>
              </a:rPr>
              <a:t>Mathew Kawaja</a:t>
            </a:r>
            <a:r>
              <a:rPr b="1" i="0" lang="en-US" sz="6000" u="none" cap="none" strike="noStrike">
                <a:solidFill>
                  <a:srgbClr val="000000"/>
                </a:solidFill>
                <a:latin typeface="IBM Plex Sans"/>
                <a:ea typeface="IBM Plex Sans"/>
                <a:cs typeface="IBM Plex Sans"/>
                <a:sym typeface="IBM Plex Sans"/>
              </a:rPr>
              <a:t>, </a:t>
            </a:r>
            <a:r>
              <a:rPr b="1" lang="en-US" sz="6000">
                <a:latin typeface="IBM Plex Sans"/>
                <a:ea typeface="IBM Plex Sans"/>
                <a:cs typeface="IBM Plex Sans"/>
                <a:sym typeface="IBM Plex Sans"/>
              </a:rPr>
              <a:t>Leor Yomtobian</a:t>
            </a:r>
            <a:endParaRPr/>
          </a:p>
          <a:p>
            <a:pPr indent="-342900" lvl="0" marL="342900" marR="0" rtl="0" algn="l">
              <a:spcBef>
                <a:spcPts val="0"/>
              </a:spcBef>
              <a:spcAft>
                <a:spcPts val="0"/>
              </a:spcAft>
              <a:buNone/>
            </a:pPr>
            <a:r>
              <a:rPr lang="en-US" sz="6000">
                <a:latin typeface="IBM Plex Sans"/>
                <a:ea typeface="IBM Plex Sans"/>
                <a:cs typeface="IBM Plex Sans"/>
                <a:sym typeface="IBM Plex Sans"/>
              </a:rPr>
              <a:t>EE595</a:t>
            </a:r>
            <a:r>
              <a:rPr b="0" i="0" lang="en-US" sz="6000" u="none" cap="none" strike="noStrike">
                <a:solidFill>
                  <a:srgbClr val="000000"/>
                </a:solidFill>
                <a:latin typeface="IBM Plex Sans"/>
                <a:ea typeface="IBM Plex Sans"/>
                <a:cs typeface="IBM Plex Sans"/>
                <a:sym typeface="IBM Plex Sans"/>
              </a:rPr>
              <a:t>, </a:t>
            </a:r>
            <a:r>
              <a:rPr lang="en-US" sz="6000">
                <a:latin typeface="IBM Plex Sans"/>
                <a:ea typeface="IBM Plex Sans"/>
                <a:cs typeface="IBM Plex Sans"/>
                <a:sym typeface="IBM Plex Sans"/>
              </a:rPr>
              <a:t>Professor Shucheng Yu</a:t>
            </a:r>
            <a:endParaRPr/>
          </a:p>
          <a:p>
            <a:pPr indent="-342900" lvl="0" marL="342900" marR="0" rtl="0" algn="l">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20" name="Google Shape;20;p3"/>
          <p:cNvPicPr preferRelativeResize="0"/>
          <p:nvPr/>
        </p:nvPicPr>
        <p:blipFill>
          <a:blip r:embed="rId3">
            <a:alphaModFix/>
          </a:blip>
          <a:stretch>
            <a:fillRect/>
          </a:stretch>
        </p:blipFill>
        <p:spPr>
          <a:xfrm>
            <a:off x="4495800" y="9970542"/>
            <a:ext cx="34899600" cy="17244508"/>
          </a:xfrm>
          <a:prstGeom prst="rect">
            <a:avLst/>
          </a:prstGeom>
          <a:noFill/>
          <a:ln>
            <a:noFill/>
          </a:ln>
        </p:spPr>
      </p:pic>
      <p:sp>
        <p:nvSpPr>
          <p:cNvPr id="21" name="Google Shape;21;p3"/>
          <p:cNvSpPr txBox="1"/>
          <p:nvPr/>
        </p:nvSpPr>
        <p:spPr>
          <a:xfrm>
            <a:off x="41062500" y="31089600"/>
            <a:ext cx="999900" cy="96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4800"/>
              <a:t>LY</a:t>
            </a:r>
            <a:endParaRPr sz="48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 name="Shape 25"/>
        <p:cNvGrpSpPr/>
        <p:nvPr/>
      </p:nvGrpSpPr>
      <p:grpSpPr>
        <a:xfrm>
          <a:off x="0" y="0"/>
          <a:ext cx="0" cy="0"/>
          <a:chOff x="0" y="0"/>
          <a:chExt cx="0" cy="0"/>
        </a:xfrm>
      </p:grpSpPr>
      <p:sp>
        <p:nvSpPr>
          <p:cNvPr id="26" name="Google Shape;26;p4"/>
          <p:cNvSpPr txBox="1"/>
          <p:nvPr/>
        </p:nvSpPr>
        <p:spPr>
          <a:xfrm>
            <a:off x="14571663" y="-1136650"/>
            <a:ext cx="184200" cy="1431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 name="Google Shape;27;p4"/>
          <p:cNvSpPr txBox="1"/>
          <p:nvPr/>
        </p:nvSpPr>
        <p:spPr>
          <a:xfrm>
            <a:off x="1447800" y="1524000"/>
            <a:ext cx="38404800" cy="2286000"/>
          </a:xfrm>
          <a:prstGeom prst="rect">
            <a:avLst/>
          </a:prstGeom>
          <a:noFill/>
          <a:ln>
            <a:noFill/>
          </a:ln>
        </p:spPr>
        <p:txBody>
          <a:bodyPr anchorCtr="0" anchor="t" bIns="219450" lIns="438900" spcFirstLastPara="1" rIns="438900" wrap="square" tIns="219450">
            <a:noAutofit/>
          </a:bodyPr>
          <a:lstStyle/>
          <a:p>
            <a:pPr indent="-342900" lvl="0" marL="342900" marR="0" rtl="0" algn="l">
              <a:spcBef>
                <a:spcPts val="0"/>
              </a:spcBef>
              <a:spcAft>
                <a:spcPts val="0"/>
              </a:spcAft>
              <a:buNone/>
            </a:pPr>
            <a:r>
              <a:rPr b="1" lang="en-US" sz="12500">
                <a:latin typeface="Saira"/>
                <a:ea typeface="Saira"/>
                <a:cs typeface="Saira"/>
                <a:sym typeface="Saira"/>
              </a:rPr>
              <a:t>Problem Statement</a:t>
            </a:r>
            <a:endParaRPr b="1" i="0" sz="12500" u="none" cap="none" strike="noStrike">
              <a:solidFill>
                <a:srgbClr val="000000"/>
              </a:solidFill>
              <a:latin typeface="Saira"/>
              <a:ea typeface="Saira"/>
              <a:cs typeface="Saira"/>
              <a:sym typeface="Saira"/>
            </a:endParaRPr>
          </a:p>
        </p:txBody>
      </p:sp>
      <p:sp>
        <p:nvSpPr>
          <p:cNvPr id="28" name="Google Shape;28;p4"/>
          <p:cNvSpPr txBox="1"/>
          <p:nvPr/>
        </p:nvSpPr>
        <p:spPr>
          <a:xfrm>
            <a:off x="1447800" y="5105400"/>
            <a:ext cx="34899600" cy="2286000"/>
          </a:xfrm>
          <a:prstGeom prst="rect">
            <a:avLst/>
          </a:prstGeom>
          <a:noFill/>
          <a:ln>
            <a:noFill/>
          </a:ln>
        </p:spPr>
        <p:txBody>
          <a:bodyPr anchorCtr="0" anchor="t" bIns="219450" lIns="438900" spcFirstLastPara="1" rIns="438900" wrap="square" tIns="219450">
            <a:noAutofit/>
          </a:bodyPr>
          <a:lstStyle/>
          <a:p>
            <a:pPr indent="-342900" lvl="0" marL="342900" marR="0" rtl="0" algn="l">
              <a:spcBef>
                <a:spcPts val="0"/>
              </a:spcBef>
              <a:spcAft>
                <a:spcPts val="0"/>
              </a:spcAft>
              <a:buNone/>
            </a:pPr>
            <a:r>
              <a:t/>
            </a:r>
            <a:endParaRPr b="0" i="0" sz="6000" u="none" cap="none" strike="noStrike">
              <a:solidFill>
                <a:srgbClr val="000000"/>
              </a:solidFill>
              <a:latin typeface="IBM Plex Sans"/>
              <a:ea typeface="IBM Plex Sans"/>
              <a:cs typeface="IBM Plex Sans"/>
              <a:sym typeface="IBM Plex Sans"/>
            </a:endParaRPr>
          </a:p>
        </p:txBody>
      </p:sp>
      <p:sp>
        <p:nvSpPr>
          <p:cNvPr id="29" name="Google Shape;29;p4"/>
          <p:cNvSpPr txBox="1"/>
          <p:nvPr/>
        </p:nvSpPr>
        <p:spPr>
          <a:xfrm>
            <a:off x="1818275" y="5303300"/>
            <a:ext cx="40244100" cy="17482800"/>
          </a:xfrm>
          <a:prstGeom prst="rect">
            <a:avLst/>
          </a:prstGeom>
          <a:noFill/>
          <a:ln>
            <a:noFill/>
          </a:ln>
        </p:spPr>
        <p:txBody>
          <a:bodyPr anchorCtr="0" anchor="t" bIns="91425" lIns="91425" spcFirstLastPara="1" rIns="91425" wrap="square" tIns="91425">
            <a:noAutofit/>
          </a:bodyPr>
          <a:lstStyle/>
          <a:p>
            <a:pPr indent="-838200" lvl="0" marL="457200" rtl="0" algn="l">
              <a:spcBef>
                <a:spcPts val="0"/>
              </a:spcBef>
              <a:spcAft>
                <a:spcPts val="0"/>
              </a:spcAft>
              <a:buSzPts val="9600"/>
              <a:buChar char="●"/>
            </a:pPr>
            <a:r>
              <a:rPr lang="en-US" sz="9600"/>
              <a:t>Predict the next closing price of stocks using daily OHCLV (Open, High, Low, Close, Volume) data</a:t>
            </a:r>
            <a:endParaRPr sz="9600"/>
          </a:p>
          <a:p>
            <a:pPr indent="0" lvl="0" marL="0" rtl="0" algn="l">
              <a:spcBef>
                <a:spcPts val="0"/>
              </a:spcBef>
              <a:spcAft>
                <a:spcPts val="0"/>
              </a:spcAft>
              <a:buNone/>
            </a:pPr>
            <a:r>
              <a:t/>
            </a:r>
            <a:endParaRPr sz="9600"/>
          </a:p>
          <a:p>
            <a:pPr indent="-838200" lvl="0" marL="457200" rtl="0" algn="l">
              <a:spcBef>
                <a:spcPts val="0"/>
              </a:spcBef>
              <a:spcAft>
                <a:spcPts val="0"/>
              </a:spcAft>
              <a:buSzPts val="9600"/>
              <a:buChar char="●"/>
            </a:pPr>
            <a:r>
              <a:rPr lang="en-US" sz="9600"/>
              <a:t>Three different architectures used:</a:t>
            </a:r>
            <a:endParaRPr sz="9600"/>
          </a:p>
          <a:p>
            <a:pPr indent="0" lvl="0" marL="457200" rtl="0" algn="l">
              <a:spcBef>
                <a:spcPts val="0"/>
              </a:spcBef>
              <a:spcAft>
                <a:spcPts val="0"/>
              </a:spcAft>
              <a:buNone/>
            </a:pPr>
            <a:r>
              <a:t/>
            </a:r>
            <a:endParaRPr sz="9600"/>
          </a:p>
          <a:p>
            <a:pPr indent="-838200" lvl="1" marL="2286000" rtl="0" algn="l">
              <a:spcBef>
                <a:spcPts val="0"/>
              </a:spcBef>
              <a:spcAft>
                <a:spcPts val="0"/>
              </a:spcAft>
              <a:buClr>
                <a:schemeClr val="dk1"/>
              </a:buClr>
              <a:buSzPts val="9600"/>
              <a:buChar char="○"/>
            </a:pPr>
            <a:r>
              <a:rPr lang="en-US" sz="9600">
                <a:solidFill>
                  <a:schemeClr val="dk1"/>
                </a:solidFill>
              </a:rPr>
              <a:t>MLP (OLS)</a:t>
            </a:r>
            <a:endParaRPr sz="9600">
              <a:solidFill>
                <a:schemeClr val="dk1"/>
              </a:solidFill>
            </a:endParaRPr>
          </a:p>
          <a:p>
            <a:pPr indent="-838200" lvl="1" marL="2286000" rtl="0" algn="l">
              <a:spcBef>
                <a:spcPts val="0"/>
              </a:spcBef>
              <a:spcAft>
                <a:spcPts val="0"/>
              </a:spcAft>
              <a:buClr>
                <a:schemeClr val="dk1"/>
              </a:buClr>
              <a:buSzPts val="9600"/>
              <a:buChar char="○"/>
            </a:pPr>
            <a:r>
              <a:rPr lang="en-US" sz="9600">
                <a:solidFill>
                  <a:schemeClr val="dk1"/>
                </a:solidFill>
              </a:rPr>
              <a:t>PatchTST</a:t>
            </a:r>
            <a:endParaRPr sz="9600">
              <a:solidFill>
                <a:schemeClr val="dk1"/>
              </a:solidFill>
            </a:endParaRPr>
          </a:p>
          <a:p>
            <a:pPr indent="-838200" lvl="1" marL="2286000" rtl="0" algn="l">
              <a:spcBef>
                <a:spcPts val="0"/>
              </a:spcBef>
              <a:spcAft>
                <a:spcPts val="0"/>
              </a:spcAft>
              <a:buClr>
                <a:schemeClr val="dk1"/>
              </a:buClr>
              <a:buSzPts val="9600"/>
              <a:buChar char="○"/>
            </a:pPr>
            <a:r>
              <a:rPr lang="en-US" sz="9600"/>
              <a:t>LSTM</a:t>
            </a:r>
            <a:endParaRPr sz="9600"/>
          </a:p>
          <a:p>
            <a:pPr indent="0" lvl="0" marL="0" rtl="0" algn="l">
              <a:spcBef>
                <a:spcPts val="0"/>
              </a:spcBef>
              <a:spcAft>
                <a:spcPts val="0"/>
              </a:spcAft>
              <a:buNone/>
            </a:pPr>
            <a:r>
              <a:t/>
            </a:r>
            <a:endParaRPr sz="9600"/>
          </a:p>
          <a:p>
            <a:pPr indent="-838200" lvl="0" marL="457200" rtl="0" algn="l">
              <a:spcBef>
                <a:spcPts val="0"/>
              </a:spcBef>
              <a:spcAft>
                <a:spcPts val="0"/>
              </a:spcAft>
              <a:buSzPts val="9600"/>
              <a:buChar char="●"/>
            </a:pPr>
            <a:r>
              <a:rPr lang="en-US" sz="9600"/>
              <a:t>Objective is to compare the performance of each model and to have accurate predictions</a:t>
            </a:r>
            <a:endParaRPr sz="9600"/>
          </a:p>
        </p:txBody>
      </p:sp>
      <p:sp>
        <p:nvSpPr>
          <p:cNvPr id="30" name="Google Shape;30;p4"/>
          <p:cNvSpPr txBox="1"/>
          <p:nvPr/>
        </p:nvSpPr>
        <p:spPr>
          <a:xfrm>
            <a:off x="41062500" y="31089600"/>
            <a:ext cx="1438500" cy="96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4800"/>
              <a:t>MK</a:t>
            </a:r>
            <a:endParaRPr sz="48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 name="Shape 34"/>
        <p:cNvGrpSpPr/>
        <p:nvPr/>
      </p:nvGrpSpPr>
      <p:grpSpPr>
        <a:xfrm>
          <a:off x="0" y="0"/>
          <a:ext cx="0" cy="0"/>
          <a:chOff x="0" y="0"/>
          <a:chExt cx="0" cy="0"/>
        </a:xfrm>
      </p:grpSpPr>
      <p:sp>
        <p:nvSpPr>
          <p:cNvPr id="35" name="Google Shape;35;p5"/>
          <p:cNvSpPr txBox="1"/>
          <p:nvPr/>
        </p:nvSpPr>
        <p:spPr>
          <a:xfrm>
            <a:off x="14571663" y="-1136650"/>
            <a:ext cx="184200" cy="1431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 name="Google Shape;36;p5"/>
          <p:cNvSpPr txBox="1"/>
          <p:nvPr/>
        </p:nvSpPr>
        <p:spPr>
          <a:xfrm>
            <a:off x="1447800" y="1524000"/>
            <a:ext cx="38404800" cy="2286000"/>
          </a:xfrm>
          <a:prstGeom prst="rect">
            <a:avLst/>
          </a:prstGeom>
          <a:noFill/>
          <a:ln>
            <a:noFill/>
          </a:ln>
        </p:spPr>
        <p:txBody>
          <a:bodyPr anchorCtr="0" anchor="t" bIns="219450" lIns="438900" spcFirstLastPara="1" rIns="438900" wrap="square" tIns="219450">
            <a:noAutofit/>
          </a:bodyPr>
          <a:lstStyle/>
          <a:p>
            <a:pPr indent="-342900" lvl="0" marL="342900" marR="0" rtl="0" algn="l">
              <a:spcBef>
                <a:spcPts val="0"/>
              </a:spcBef>
              <a:spcAft>
                <a:spcPts val="0"/>
              </a:spcAft>
              <a:buNone/>
            </a:pPr>
            <a:r>
              <a:rPr b="1" lang="en-US" sz="12500">
                <a:latin typeface="Saira"/>
                <a:ea typeface="Saira"/>
                <a:cs typeface="Saira"/>
                <a:sym typeface="Saira"/>
              </a:rPr>
              <a:t>Dataset Description</a:t>
            </a:r>
            <a:endParaRPr b="1" i="0" sz="12500" u="none" cap="none" strike="noStrike">
              <a:solidFill>
                <a:srgbClr val="000000"/>
              </a:solidFill>
              <a:latin typeface="Saira"/>
              <a:ea typeface="Saira"/>
              <a:cs typeface="Saira"/>
              <a:sym typeface="Saira"/>
            </a:endParaRPr>
          </a:p>
        </p:txBody>
      </p:sp>
      <p:sp>
        <p:nvSpPr>
          <p:cNvPr id="37" name="Google Shape;37;p5"/>
          <p:cNvSpPr txBox="1"/>
          <p:nvPr/>
        </p:nvSpPr>
        <p:spPr>
          <a:xfrm>
            <a:off x="1447800" y="5105400"/>
            <a:ext cx="34899600" cy="2286000"/>
          </a:xfrm>
          <a:prstGeom prst="rect">
            <a:avLst/>
          </a:prstGeom>
          <a:noFill/>
          <a:ln>
            <a:noFill/>
          </a:ln>
        </p:spPr>
        <p:txBody>
          <a:bodyPr anchorCtr="0" anchor="t" bIns="219450" lIns="438900" spcFirstLastPara="1" rIns="438900" wrap="square" tIns="219450">
            <a:noAutofit/>
          </a:bodyPr>
          <a:lstStyle/>
          <a:p>
            <a:pPr indent="-342900" lvl="0" marL="342900" marR="0" rtl="0" algn="l">
              <a:spcBef>
                <a:spcPts val="0"/>
              </a:spcBef>
              <a:spcAft>
                <a:spcPts val="0"/>
              </a:spcAft>
              <a:buNone/>
            </a:pPr>
            <a:r>
              <a:t/>
            </a:r>
            <a:endParaRPr b="0" i="0" sz="6000" u="none" cap="none" strike="noStrike">
              <a:solidFill>
                <a:srgbClr val="000000"/>
              </a:solidFill>
              <a:latin typeface="IBM Plex Sans"/>
              <a:ea typeface="IBM Plex Sans"/>
              <a:cs typeface="IBM Plex Sans"/>
              <a:sym typeface="IBM Plex Sans"/>
            </a:endParaRPr>
          </a:p>
        </p:txBody>
      </p:sp>
      <p:sp>
        <p:nvSpPr>
          <p:cNvPr id="38" name="Google Shape;38;p5"/>
          <p:cNvSpPr txBox="1"/>
          <p:nvPr/>
        </p:nvSpPr>
        <p:spPr>
          <a:xfrm>
            <a:off x="1818275" y="5303300"/>
            <a:ext cx="40244100" cy="11288400"/>
          </a:xfrm>
          <a:prstGeom prst="rect">
            <a:avLst/>
          </a:prstGeom>
          <a:noFill/>
          <a:ln>
            <a:noFill/>
          </a:ln>
        </p:spPr>
        <p:txBody>
          <a:bodyPr anchorCtr="0" anchor="t" bIns="91425" lIns="91425" spcFirstLastPara="1" rIns="91425" wrap="square" tIns="91425">
            <a:noAutofit/>
          </a:bodyPr>
          <a:lstStyle/>
          <a:p>
            <a:pPr indent="-838200" lvl="0" marL="457200" rtl="0" algn="l">
              <a:spcBef>
                <a:spcPts val="0"/>
              </a:spcBef>
              <a:spcAft>
                <a:spcPts val="0"/>
              </a:spcAft>
              <a:buSzPts val="9600"/>
              <a:buChar char="●"/>
            </a:pPr>
            <a:r>
              <a:rPr lang="en-US" sz="9600"/>
              <a:t>The data we used were the daily Stocks and Bonds pricing</a:t>
            </a:r>
            <a:endParaRPr sz="9600"/>
          </a:p>
          <a:p>
            <a:pPr indent="0" lvl="0" marL="0" rtl="0" algn="l">
              <a:spcBef>
                <a:spcPts val="0"/>
              </a:spcBef>
              <a:spcAft>
                <a:spcPts val="0"/>
              </a:spcAft>
              <a:buNone/>
            </a:pPr>
            <a:r>
              <a:t/>
            </a:r>
            <a:endParaRPr sz="9600"/>
          </a:p>
          <a:p>
            <a:pPr indent="-838200" lvl="0" marL="457200" rtl="0" algn="l">
              <a:spcBef>
                <a:spcPts val="0"/>
              </a:spcBef>
              <a:spcAft>
                <a:spcPts val="0"/>
              </a:spcAft>
              <a:buSzPts val="9600"/>
              <a:buChar char="●"/>
            </a:pPr>
            <a:r>
              <a:rPr lang="en-US" sz="9600"/>
              <a:t>The dataset contains 24.3 million rows</a:t>
            </a:r>
            <a:endParaRPr sz="9600"/>
          </a:p>
          <a:p>
            <a:pPr indent="0" lvl="0" marL="0" rtl="0" algn="l">
              <a:spcBef>
                <a:spcPts val="0"/>
              </a:spcBef>
              <a:spcAft>
                <a:spcPts val="0"/>
              </a:spcAft>
              <a:buNone/>
            </a:pPr>
            <a:r>
              <a:t/>
            </a:r>
            <a:endParaRPr sz="9600"/>
          </a:p>
          <a:p>
            <a:pPr indent="-838200" lvl="0" marL="457200" rtl="0" algn="l">
              <a:spcBef>
                <a:spcPts val="0"/>
              </a:spcBef>
              <a:spcAft>
                <a:spcPts val="0"/>
              </a:spcAft>
              <a:buSzPts val="9600"/>
              <a:buChar char="●"/>
            </a:pPr>
            <a:r>
              <a:rPr lang="en-US" sz="9600"/>
              <a:t>Each row contains the symbol, date, open, high, low, close, and adjusted close</a:t>
            </a:r>
            <a:endParaRPr sz="9600"/>
          </a:p>
          <a:p>
            <a:pPr indent="0" lvl="0" marL="0" rtl="0" algn="l">
              <a:spcBef>
                <a:spcPts val="0"/>
              </a:spcBef>
              <a:spcAft>
                <a:spcPts val="0"/>
              </a:spcAft>
              <a:buNone/>
            </a:pPr>
            <a:r>
              <a:t/>
            </a:r>
            <a:endParaRPr sz="9600"/>
          </a:p>
          <a:p>
            <a:pPr indent="-838200" lvl="0" marL="457200" rtl="0" algn="l">
              <a:spcBef>
                <a:spcPts val="0"/>
              </a:spcBef>
              <a:spcAft>
                <a:spcPts val="0"/>
              </a:spcAft>
              <a:buSzPts val="9600"/>
              <a:buChar char="●"/>
            </a:pPr>
            <a:r>
              <a:rPr lang="en-US" sz="9600"/>
              <a:t>We handled missing values by incorporating a two-step forward (ffill) then backward (bfill) fill, ensuring a continuous time series</a:t>
            </a:r>
            <a:endParaRPr sz="9600"/>
          </a:p>
          <a:p>
            <a:pPr indent="0" lvl="0" marL="0" rtl="0" algn="l">
              <a:spcBef>
                <a:spcPts val="0"/>
              </a:spcBef>
              <a:spcAft>
                <a:spcPts val="0"/>
              </a:spcAft>
              <a:buNone/>
            </a:pPr>
            <a:r>
              <a:t/>
            </a:r>
            <a:endParaRPr sz="9600"/>
          </a:p>
          <a:p>
            <a:pPr indent="-838200" lvl="0" marL="457200" rtl="0" algn="l">
              <a:spcBef>
                <a:spcPts val="0"/>
              </a:spcBef>
              <a:spcAft>
                <a:spcPts val="0"/>
              </a:spcAft>
              <a:buSzPts val="9600"/>
              <a:buChar char="●"/>
            </a:pPr>
            <a:r>
              <a:rPr lang="en-US" sz="9600"/>
              <a:t>Any remaining NaN values from this process are dropped, providing a clean dataset for modeling</a:t>
            </a:r>
            <a:endParaRPr sz="9600"/>
          </a:p>
        </p:txBody>
      </p:sp>
      <p:sp>
        <p:nvSpPr>
          <p:cNvPr id="39" name="Google Shape;39;p5"/>
          <p:cNvSpPr txBox="1"/>
          <p:nvPr/>
        </p:nvSpPr>
        <p:spPr>
          <a:xfrm>
            <a:off x="41062500" y="31089600"/>
            <a:ext cx="1438500" cy="96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4800"/>
              <a:t>JR</a:t>
            </a:r>
            <a:endParaRPr sz="48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 name="Shape 44"/>
        <p:cNvGrpSpPr/>
        <p:nvPr/>
      </p:nvGrpSpPr>
      <p:grpSpPr>
        <a:xfrm>
          <a:off x="0" y="0"/>
          <a:ext cx="0" cy="0"/>
          <a:chOff x="0" y="0"/>
          <a:chExt cx="0" cy="0"/>
        </a:xfrm>
      </p:grpSpPr>
      <p:pic>
        <p:nvPicPr>
          <p:cNvPr id="45" name="Google Shape;45;p6"/>
          <p:cNvPicPr preferRelativeResize="0"/>
          <p:nvPr/>
        </p:nvPicPr>
        <p:blipFill>
          <a:blip r:embed="rId3">
            <a:alphaModFix/>
          </a:blip>
          <a:stretch>
            <a:fillRect/>
          </a:stretch>
        </p:blipFill>
        <p:spPr>
          <a:xfrm>
            <a:off x="2901700" y="7263958"/>
            <a:ext cx="36990450" cy="18390481"/>
          </a:xfrm>
          <a:prstGeom prst="rect">
            <a:avLst/>
          </a:prstGeom>
          <a:noFill/>
          <a:ln>
            <a:noFill/>
          </a:ln>
        </p:spPr>
      </p:pic>
      <p:sp>
        <p:nvSpPr>
          <p:cNvPr id="46" name="Google Shape;46;p6"/>
          <p:cNvSpPr txBox="1"/>
          <p:nvPr/>
        </p:nvSpPr>
        <p:spPr>
          <a:xfrm>
            <a:off x="1831525" y="2500125"/>
            <a:ext cx="39130800" cy="189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9600"/>
              <a:t>AAPL Adjusted Close vs Volume from 2022-01 to 2025-05</a:t>
            </a:r>
            <a:endParaRPr b="1" sz="9600"/>
          </a:p>
        </p:txBody>
      </p:sp>
      <p:sp>
        <p:nvSpPr>
          <p:cNvPr id="47" name="Google Shape;47;p6"/>
          <p:cNvSpPr txBox="1"/>
          <p:nvPr/>
        </p:nvSpPr>
        <p:spPr>
          <a:xfrm>
            <a:off x="41062500" y="31089600"/>
            <a:ext cx="1438500" cy="96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4800"/>
              <a:t>JR</a:t>
            </a:r>
            <a:endParaRPr sz="48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 name="Shape 52"/>
        <p:cNvGrpSpPr/>
        <p:nvPr/>
      </p:nvGrpSpPr>
      <p:grpSpPr>
        <a:xfrm>
          <a:off x="0" y="0"/>
          <a:ext cx="0" cy="0"/>
          <a:chOff x="0" y="0"/>
          <a:chExt cx="0" cy="0"/>
        </a:xfrm>
      </p:grpSpPr>
      <p:pic>
        <p:nvPicPr>
          <p:cNvPr id="53" name="Google Shape;53;p7"/>
          <p:cNvPicPr preferRelativeResize="0"/>
          <p:nvPr/>
        </p:nvPicPr>
        <p:blipFill>
          <a:blip r:embed="rId3">
            <a:alphaModFix/>
          </a:blip>
          <a:stretch>
            <a:fillRect/>
          </a:stretch>
        </p:blipFill>
        <p:spPr>
          <a:xfrm>
            <a:off x="2573475" y="6779263"/>
            <a:ext cx="38744251" cy="19359874"/>
          </a:xfrm>
          <a:prstGeom prst="rect">
            <a:avLst/>
          </a:prstGeom>
          <a:noFill/>
          <a:ln>
            <a:noFill/>
          </a:ln>
        </p:spPr>
      </p:pic>
      <p:sp>
        <p:nvSpPr>
          <p:cNvPr id="54" name="Google Shape;54;p7"/>
          <p:cNvSpPr txBox="1"/>
          <p:nvPr/>
        </p:nvSpPr>
        <p:spPr>
          <a:xfrm>
            <a:off x="1831525" y="2500125"/>
            <a:ext cx="39130800" cy="189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9600"/>
              <a:t>US10Y Bond Close from 2022-01 to 2025-05</a:t>
            </a:r>
            <a:endParaRPr b="1" sz="9600"/>
          </a:p>
        </p:txBody>
      </p:sp>
      <p:sp>
        <p:nvSpPr>
          <p:cNvPr id="55" name="Google Shape;55;p7"/>
          <p:cNvSpPr txBox="1"/>
          <p:nvPr/>
        </p:nvSpPr>
        <p:spPr>
          <a:xfrm>
            <a:off x="41062500" y="31089600"/>
            <a:ext cx="1438500" cy="96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4800"/>
              <a:t>JR</a:t>
            </a:r>
            <a:endParaRPr sz="48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8"/>
          <p:cNvSpPr txBox="1"/>
          <p:nvPr/>
        </p:nvSpPr>
        <p:spPr>
          <a:xfrm>
            <a:off x="1044800" y="2286000"/>
            <a:ext cx="43085700" cy="2286000"/>
          </a:xfrm>
          <a:prstGeom prst="rect">
            <a:avLst/>
          </a:prstGeom>
          <a:noFill/>
          <a:ln>
            <a:noFill/>
          </a:ln>
        </p:spPr>
        <p:txBody>
          <a:bodyPr anchorCtr="0" anchor="t" bIns="219450" lIns="438900" spcFirstLastPara="1" rIns="438900" wrap="square" tIns="219450">
            <a:noAutofit/>
          </a:bodyPr>
          <a:lstStyle/>
          <a:p>
            <a:pPr indent="-342900" lvl="0" marL="342900" marR="0" rtl="0" algn="l">
              <a:spcBef>
                <a:spcPts val="0"/>
              </a:spcBef>
              <a:spcAft>
                <a:spcPts val="0"/>
              </a:spcAft>
              <a:buNone/>
            </a:pPr>
            <a:r>
              <a:rPr b="1" lang="en-US" sz="12500">
                <a:latin typeface="Saira"/>
                <a:ea typeface="Saira"/>
                <a:cs typeface="Saira"/>
                <a:sym typeface="Saira"/>
              </a:rPr>
              <a:t>OLS Model In-Sample Fit: Average Tech Stock Returns</a:t>
            </a:r>
            <a:endParaRPr b="1" i="0" sz="12500" u="none" cap="none" strike="noStrike">
              <a:solidFill>
                <a:srgbClr val="000000"/>
              </a:solidFill>
              <a:latin typeface="Saira"/>
              <a:ea typeface="Saira"/>
              <a:cs typeface="Saira"/>
              <a:sym typeface="Saira"/>
            </a:endParaRPr>
          </a:p>
        </p:txBody>
      </p:sp>
      <p:sp>
        <p:nvSpPr>
          <p:cNvPr id="62" name="Google Shape;62;p8"/>
          <p:cNvSpPr txBox="1"/>
          <p:nvPr/>
        </p:nvSpPr>
        <p:spPr>
          <a:xfrm>
            <a:off x="41062500" y="31089600"/>
            <a:ext cx="1438500" cy="96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4800"/>
              <a:t>MK</a:t>
            </a:r>
            <a:endParaRPr sz="4800"/>
          </a:p>
          <a:p>
            <a:pPr indent="0" lvl="0" marL="0" rtl="0" algn="l">
              <a:spcBef>
                <a:spcPts val="0"/>
              </a:spcBef>
              <a:spcAft>
                <a:spcPts val="0"/>
              </a:spcAft>
              <a:buNone/>
            </a:pPr>
            <a:r>
              <a:t/>
            </a:r>
            <a:endParaRPr sz="4800"/>
          </a:p>
        </p:txBody>
      </p:sp>
      <p:pic>
        <p:nvPicPr>
          <p:cNvPr id="63" name="Google Shape;63;p8"/>
          <p:cNvPicPr preferRelativeResize="0"/>
          <p:nvPr/>
        </p:nvPicPr>
        <p:blipFill>
          <a:blip r:embed="rId3">
            <a:alphaModFix/>
          </a:blip>
          <a:stretch>
            <a:fillRect/>
          </a:stretch>
        </p:blipFill>
        <p:spPr>
          <a:xfrm>
            <a:off x="4112802" y="5434138"/>
            <a:ext cx="36949699" cy="22050117"/>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pic>
        <p:nvPicPr>
          <p:cNvPr id="69" name="Google Shape;69;p9"/>
          <p:cNvPicPr preferRelativeResize="0"/>
          <p:nvPr/>
        </p:nvPicPr>
        <p:blipFill>
          <a:blip r:embed="rId3">
            <a:alphaModFix/>
          </a:blip>
          <a:stretch>
            <a:fillRect/>
          </a:stretch>
        </p:blipFill>
        <p:spPr>
          <a:xfrm>
            <a:off x="4170813" y="5333300"/>
            <a:ext cx="36159174" cy="22251800"/>
          </a:xfrm>
          <a:prstGeom prst="rect">
            <a:avLst/>
          </a:prstGeom>
          <a:noFill/>
          <a:ln>
            <a:noFill/>
          </a:ln>
        </p:spPr>
      </p:pic>
      <p:sp>
        <p:nvSpPr>
          <p:cNvPr id="70" name="Google Shape;70;p9"/>
          <p:cNvSpPr txBox="1"/>
          <p:nvPr/>
        </p:nvSpPr>
        <p:spPr>
          <a:xfrm>
            <a:off x="39852150" y="30627900"/>
            <a:ext cx="30000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4800">
                <a:solidFill>
                  <a:schemeClr val="dk1"/>
                </a:solidFill>
              </a:rPr>
              <a:t>MK</a:t>
            </a:r>
            <a:endParaRPr/>
          </a:p>
        </p:txBody>
      </p:sp>
      <p:sp>
        <p:nvSpPr>
          <p:cNvPr id="71" name="Google Shape;71;p9"/>
          <p:cNvSpPr txBox="1"/>
          <p:nvPr/>
        </p:nvSpPr>
        <p:spPr>
          <a:xfrm>
            <a:off x="1828800" y="1810200"/>
            <a:ext cx="36543600" cy="276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2900"/>
              <a:t>OLS Model In-Sample Fit: Bond Price Changes</a:t>
            </a:r>
            <a:endParaRPr b="1" sz="129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0"/>
          <p:cNvSpPr txBox="1"/>
          <p:nvPr/>
        </p:nvSpPr>
        <p:spPr>
          <a:xfrm>
            <a:off x="1831525" y="2500125"/>
            <a:ext cx="39130800" cy="189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9600"/>
              <a:t>OLS Equity</a:t>
            </a:r>
            <a:endParaRPr b="1" sz="9600"/>
          </a:p>
        </p:txBody>
      </p:sp>
      <p:pic>
        <p:nvPicPr>
          <p:cNvPr id="78" name="Google Shape;78;p10"/>
          <p:cNvPicPr preferRelativeResize="0"/>
          <p:nvPr/>
        </p:nvPicPr>
        <p:blipFill>
          <a:blip r:embed="rId3">
            <a:alphaModFix/>
          </a:blip>
          <a:stretch>
            <a:fillRect/>
          </a:stretch>
        </p:blipFill>
        <p:spPr>
          <a:xfrm>
            <a:off x="5223438" y="5982538"/>
            <a:ext cx="34053925" cy="20953325"/>
          </a:xfrm>
          <a:prstGeom prst="rect">
            <a:avLst/>
          </a:prstGeom>
          <a:noFill/>
          <a:ln>
            <a:noFill/>
          </a:ln>
        </p:spPr>
      </p:pic>
      <p:sp>
        <p:nvSpPr>
          <p:cNvPr id="79" name="Google Shape;79;p10"/>
          <p:cNvSpPr txBox="1"/>
          <p:nvPr/>
        </p:nvSpPr>
        <p:spPr>
          <a:xfrm>
            <a:off x="41062500" y="31089600"/>
            <a:ext cx="1438500" cy="96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4800"/>
              <a:t>MK</a:t>
            </a:r>
            <a:endParaRPr sz="48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1"/>
          <p:cNvSpPr txBox="1"/>
          <p:nvPr/>
        </p:nvSpPr>
        <p:spPr>
          <a:xfrm>
            <a:off x="1831525" y="2500125"/>
            <a:ext cx="39130800" cy="189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9600"/>
              <a:t>OLS US10Y Bond</a:t>
            </a:r>
            <a:endParaRPr b="1" sz="9600"/>
          </a:p>
        </p:txBody>
      </p:sp>
      <p:pic>
        <p:nvPicPr>
          <p:cNvPr id="86" name="Google Shape;86;p11"/>
          <p:cNvPicPr preferRelativeResize="0"/>
          <p:nvPr/>
        </p:nvPicPr>
        <p:blipFill>
          <a:blip r:embed="rId3">
            <a:alphaModFix/>
          </a:blip>
          <a:stretch>
            <a:fillRect/>
          </a:stretch>
        </p:blipFill>
        <p:spPr>
          <a:xfrm>
            <a:off x="3352738" y="5191888"/>
            <a:ext cx="36088375" cy="22534636"/>
          </a:xfrm>
          <a:prstGeom prst="rect">
            <a:avLst/>
          </a:prstGeom>
          <a:noFill/>
          <a:ln>
            <a:noFill/>
          </a:ln>
        </p:spPr>
      </p:pic>
      <p:sp>
        <p:nvSpPr>
          <p:cNvPr id="87" name="Google Shape;87;p11"/>
          <p:cNvSpPr txBox="1"/>
          <p:nvPr/>
        </p:nvSpPr>
        <p:spPr>
          <a:xfrm>
            <a:off x="39717500" y="30627900"/>
            <a:ext cx="30000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4800">
                <a:solidFill>
                  <a:schemeClr val="dk1"/>
                </a:solidFill>
              </a:rPr>
              <a:t>MK</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2"/>
          <p:cNvSpPr txBox="1"/>
          <p:nvPr/>
        </p:nvSpPr>
        <p:spPr>
          <a:xfrm>
            <a:off x="14571663" y="-1136650"/>
            <a:ext cx="184200" cy="1431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3" name="Google Shape;93;p12"/>
          <p:cNvSpPr txBox="1"/>
          <p:nvPr/>
        </p:nvSpPr>
        <p:spPr>
          <a:xfrm>
            <a:off x="1447800" y="1524000"/>
            <a:ext cx="38404800" cy="2286000"/>
          </a:xfrm>
          <a:prstGeom prst="rect">
            <a:avLst/>
          </a:prstGeom>
          <a:noFill/>
          <a:ln>
            <a:noFill/>
          </a:ln>
        </p:spPr>
        <p:txBody>
          <a:bodyPr anchorCtr="0" anchor="t" bIns="219450" lIns="438900" spcFirstLastPara="1" rIns="438900" wrap="square" tIns="219450">
            <a:noAutofit/>
          </a:bodyPr>
          <a:lstStyle/>
          <a:p>
            <a:pPr indent="-342900" lvl="0" marL="342900" marR="0" rtl="0" algn="l">
              <a:spcBef>
                <a:spcPts val="0"/>
              </a:spcBef>
              <a:spcAft>
                <a:spcPts val="0"/>
              </a:spcAft>
              <a:buNone/>
            </a:pPr>
            <a:r>
              <a:rPr b="1" lang="en-US" sz="12500">
                <a:latin typeface="Saira"/>
                <a:ea typeface="Saira"/>
                <a:cs typeface="Saira"/>
                <a:sym typeface="Saira"/>
              </a:rPr>
              <a:t>Patch Time Series Transformer (PatchTST)</a:t>
            </a:r>
            <a:endParaRPr b="1" i="0" sz="12500" u="none" cap="none" strike="noStrike">
              <a:solidFill>
                <a:srgbClr val="000000"/>
              </a:solidFill>
              <a:latin typeface="Saira"/>
              <a:ea typeface="Saira"/>
              <a:cs typeface="Saira"/>
              <a:sym typeface="Saira"/>
            </a:endParaRPr>
          </a:p>
        </p:txBody>
      </p:sp>
      <p:sp>
        <p:nvSpPr>
          <p:cNvPr id="94" name="Google Shape;94;p12"/>
          <p:cNvSpPr txBox="1"/>
          <p:nvPr/>
        </p:nvSpPr>
        <p:spPr>
          <a:xfrm>
            <a:off x="1447800" y="5105400"/>
            <a:ext cx="34899600" cy="2286000"/>
          </a:xfrm>
          <a:prstGeom prst="rect">
            <a:avLst/>
          </a:prstGeom>
          <a:noFill/>
          <a:ln>
            <a:noFill/>
          </a:ln>
        </p:spPr>
        <p:txBody>
          <a:bodyPr anchorCtr="0" anchor="t" bIns="219450" lIns="438900" spcFirstLastPara="1" rIns="438900" wrap="square" tIns="219450">
            <a:noAutofit/>
          </a:bodyPr>
          <a:lstStyle/>
          <a:p>
            <a:pPr indent="-342900" lvl="0" marL="342900" marR="0" rtl="0" algn="l">
              <a:spcBef>
                <a:spcPts val="0"/>
              </a:spcBef>
              <a:spcAft>
                <a:spcPts val="0"/>
              </a:spcAft>
              <a:buNone/>
            </a:pPr>
            <a:r>
              <a:t/>
            </a:r>
            <a:endParaRPr b="0" i="0" sz="6000" u="none" cap="none" strike="noStrike">
              <a:solidFill>
                <a:srgbClr val="000000"/>
              </a:solidFill>
              <a:latin typeface="IBM Plex Sans"/>
              <a:ea typeface="IBM Plex Sans"/>
              <a:cs typeface="IBM Plex Sans"/>
              <a:sym typeface="IBM Plex Sans"/>
            </a:endParaRPr>
          </a:p>
        </p:txBody>
      </p:sp>
      <p:sp>
        <p:nvSpPr>
          <p:cNvPr id="95" name="Google Shape;95;p12"/>
          <p:cNvSpPr txBox="1"/>
          <p:nvPr/>
        </p:nvSpPr>
        <p:spPr>
          <a:xfrm>
            <a:off x="1818275" y="5303300"/>
            <a:ext cx="40244100" cy="1128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9600"/>
              <a:t>Machine learning algorithms:</a:t>
            </a:r>
            <a:endParaRPr sz="9600"/>
          </a:p>
          <a:p>
            <a:pPr indent="0" lvl="0" marL="0" rtl="0" algn="l">
              <a:spcBef>
                <a:spcPts val="0"/>
              </a:spcBef>
              <a:spcAft>
                <a:spcPts val="0"/>
              </a:spcAft>
              <a:buNone/>
            </a:pPr>
            <a:r>
              <a:t/>
            </a:r>
            <a:endParaRPr sz="9600"/>
          </a:p>
          <a:p>
            <a:pPr indent="-838200" lvl="0" marL="457200" rtl="0" algn="l">
              <a:spcBef>
                <a:spcPts val="0"/>
              </a:spcBef>
              <a:spcAft>
                <a:spcPts val="0"/>
              </a:spcAft>
              <a:buSzPts val="9600"/>
              <a:buChar char="●"/>
            </a:pPr>
            <a:r>
              <a:rPr lang="en-US" sz="9600"/>
              <a:t>One of the Machine Learning algorithms we used was PatchTST</a:t>
            </a:r>
            <a:endParaRPr sz="9600"/>
          </a:p>
          <a:p>
            <a:pPr indent="0" lvl="0" marL="0" rtl="0" algn="l">
              <a:spcBef>
                <a:spcPts val="0"/>
              </a:spcBef>
              <a:spcAft>
                <a:spcPts val="0"/>
              </a:spcAft>
              <a:buNone/>
            </a:pPr>
            <a:r>
              <a:t/>
            </a:r>
            <a:endParaRPr sz="9600"/>
          </a:p>
          <a:p>
            <a:pPr indent="-838200" lvl="0" marL="457200" rtl="0" algn="l">
              <a:spcBef>
                <a:spcPts val="0"/>
              </a:spcBef>
              <a:spcAft>
                <a:spcPts val="0"/>
              </a:spcAft>
              <a:buSzPts val="9600"/>
              <a:buChar char="●"/>
            </a:pPr>
            <a:r>
              <a:rPr lang="en-US" sz="9600"/>
              <a:t>PatchTST is a transformer-based deep learning architecture for time series forecasting</a:t>
            </a:r>
            <a:endParaRPr sz="9600"/>
          </a:p>
          <a:p>
            <a:pPr indent="0" lvl="0" marL="0" rtl="0" algn="l">
              <a:spcBef>
                <a:spcPts val="0"/>
              </a:spcBef>
              <a:spcAft>
                <a:spcPts val="0"/>
              </a:spcAft>
              <a:buNone/>
            </a:pPr>
            <a:r>
              <a:t/>
            </a:r>
            <a:endParaRPr sz="9600"/>
          </a:p>
          <a:p>
            <a:pPr indent="-838200" lvl="0" marL="457200" rtl="0" algn="l">
              <a:spcBef>
                <a:spcPts val="0"/>
              </a:spcBef>
              <a:spcAft>
                <a:spcPts val="0"/>
              </a:spcAft>
              <a:buSzPts val="9600"/>
              <a:buChar char="●"/>
            </a:pPr>
            <a:r>
              <a:rPr lang="en-US" sz="9600"/>
              <a:t>It is designed to capture nonlinear and complex patterns </a:t>
            </a:r>
            <a:endParaRPr sz="9600"/>
          </a:p>
          <a:p>
            <a:pPr indent="0" lvl="0" marL="0" rtl="0" algn="l">
              <a:spcBef>
                <a:spcPts val="0"/>
              </a:spcBef>
              <a:spcAft>
                <a:spcPts val="0"/>
              </a:spcAft>
              <a:buNone/>
            </a:pPr>
            <a:r>
              <a:t/>
            </a:r>
            <a:endParaRPr sz="9600"/>
          </a:p>
          <a:p>
            <a:pPr indent="-838200" lvl="0" marL="457200" rtl="0" algn="l">
              <a:spcBef>
                <a:spcPts val="0"/>
              </a:spcBef>
              <a:spcAft>
                <a:spcPts val="0"/>
              </a:spcAft>
              <a:buSzPts val="9600"/>
              <a:buChar char="●"/>
            </a:pPr>
            <a:r>
              <a:rPr lang="en-US" sz="9600"/>
              <a:t>It treats time series like a sequence of patches, which allows it to capture short and long term patterns</a:t>
            </a:r>
            <a:endParaRPr sz="9600"/>
          </a:p>
        </p:txBody>
      </p:sp>
      <p:sp>
        <p:nvSpPr>
          <p:cNvPr id="96" name="Google Shape;96;p12"/>
          <p:cNvSpPr txBox="1"/>
          <p:nvPr/>
        </p:nvSpPr>
        <p:spPr>
          <a:xfrm>
            <a:off x="41062500" y="31089600"/>
            <a:ext cx="1438500" cy="96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4800"/>
              <a:t>LY</a:t>
            </a:r>
            <a:endParaRPr sz="48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pic>
        <p:nvPicPr>
          <p:cNvPr id="102" name="Google Shape;102;p13"/>
          <p:cNvPicPr preferRelativeResize="0"/>
          <p:nvPr/>
        </p:nvPicPr>
        <p:blipFill>
          <a:blip r:embed="rId3">
            <a:alphaModFix/>
          </a:blip>
          <a:stretch>
            <a:fillRect/>
          </a:stretch>
        </p:blipFill>
        <p:spPr>
          <a:xfrm>
            <a:off x="1874825" y="7806564"/>
            <a:ext cx="40751149" cy="17305275"/>
          </a:xfrm>
          <a:prstGeom prst="rect">
            <a:avLst/>
          </a:prstGeom>
          <a:noFill/>
          <a:ln>
            <a:noFill/>
          </a:ln>
        </p:spPr>
      </p:pic>
      <p:sp>
        <p:nvSpPr>
          <p:cNvPr id="103" name="Google Shape;103;p13"/>
          <p:cNvSpPr txBox="1"/>
          <p:nvPr/>
        </p:nvSpPr>
        <p:spPr>
          <a:xfrm>
            <a:off x="1831525" y="2500125"/>
            <a:ext cx="39130800" cy="189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9600"/>
              <a:t>PatchTST for AAPL Equity</a:t>
            </a:r>
            <a:endParaRPr b="1" sz="9600"/>
          </a:p>
        </p:txBody>
      </p:sp>
      <p:sp>
        <p:nvSpPr>
          <p:cNvPr id="104" name="Google Shape;104;p13"/>
          <p:cNvSpPr txBox="1"/>
          <p:nvPr/>
        </p:nvSpPr>
        <p:spPr>
          <a:xfrm>
            <a:off x="41062500" y="31089600"/>
            <a:ext cx="1438500" cy="96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4800"/>
              <a:t>LY</a:t>
            </a:r>
            <a:endParaRPr sz="48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4"/>
          <p:cNvSpPr txBox="1"/>
          <p:nvPr/>
        </p:nvSpPr>
        <p:spPr>
          <a:xfrm>
            <a:off x="1831525" y="2500125"/>
            <a:ext cx="39130800" cy="189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9600"/>
              <a:t>PatchTST for US10Y Bond</a:t>
            </a:r>
            <a:endParaRPr b="1" sz="9600"/>
          </a:p>
        </p:txBody>
      </p:sp>
      <p:pic>
        <p:nvPicPr>
          <p:cNvPr id="111" name="Google Shape;111;p14"/>
          <p:cNvPicPr preferRelativeResize="0"/>
          <p:nvPr/>
        </p:nvPicPr>
        <p:blipFill>
          <a:blip r:embed="rId3">
            <a:alphaModFix/>
          </a:blip>
          <a:stretch>
            <a:fillRect/>
          </a:stretch>
        </p:blipFill>
        <p:spPr>
          <a:xfrm>
            <a:off x="1653775" y="9508587"/>
            <a:ext cx="39486301" cy="13901225"/>
          </a:xfrm>
          <a:prstGeom prst="rect">
            <a:avLst/>
          </a:prstGeom>
          <a:noFill/>
          <a:ln>
            <a:noFill/>
          </a:ln>
        </p:spPr>
      </p:pic>
      <p:sp>
        <p:nvSpPr>
          <p:cNvPr id="112" name="Google Shape;112;p14"/>
          <p:cNvSpPr txBox="1"/>
          <p:nvPr/>
        </p:nvSpPr>
        <p:spPr>
          <a:xfrm>
            <a:off x="41062500" y="31089600"/>
            <a:ext cx="1438500" cy="96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4800"/>
              <a:t>LY</a:t>
            </a:r>
            <a:endParaRPr sz="48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15"/>
          <p:cNvSpPr txBox="1"/>
          <p:nvPr/>
        </p:nvSpPr>
        <p:spPr>
          <a:xfrm>
            <a:off x="1828800" y="2100850"/>
            <a:ext cx="38404800" cy="2286000"/>
          </a:xfrm>
          <a:prstGeom prst="rect">
            <a:avLst/>
          </a:prstGeom>
          <a:noFill/>
          <a:ln>
            <a:noFill/>
          </a:ln>
        </p:spPr>
        <p:txBody>
          <a:bodyPr anchorCtr="0" anchor="t" bIns="219450" lIns="438900" spcFirstLastPara="1" rIns="438900" wrap="square" tIns="219450">
            <a:noAutofit/>
          </a:bodyPr>
          <a:lstStyle/>
          <a:p>
            <a:pPr indent="-342900" lvl="0" marL="342900" marR="0" rtl="0" algn="l">
              <a:spcBef>
                <a:spcPts val="0"/>
              </a:spcBef>
              <a:spcAft>
                <a:spcPts val="0"/>
              </a:spcAft>
              <a:buNone/>
            </a:pPr>
            <a:r>
              <a:rPr b="1" lang="en-US" sz="12500">
                <a:latin typeface="Saira"/>
                <a:ea typeface="Saira"/>
                <a:cs typeface="Saira"/>
                <a:sym typeface="Saira"/>
              </a:rPr>
              <a:t>Long Short-Term Memory (LSTM)</a:t>
            </a:r>
            <a:endParaRPr b="1" i="0" sz="12500" u="none" cap="none" strike="noStrike">
              <a:solidFill>
                <a:srgbClr val="000000"/>
              </a:solidFill>
              <a:latin typeface="Saira"/>
              <a:ea typeface="Saira"/>
              <a:cs typeface="Saira"/>
              <a:sym typeface="Saira"/>
            </a:endParaRPr>
          </a:p>
        </p:txBody>
      </p:sp>
      <p:sp>
        <p:nvSpPr>
          <p:cNvPr id="119" name="Google Shape;119;p15"/>
          <p:cNvSpPr txBox="1"/>
          <p:nvPr/>
        </p:nvSpPr>
        <p:spPr>
          <a:xfrm>
            <a:off x="1828800" y="5188250"/>
            <a:ext cx="40233600" cy="23545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9600"/>
              <a:t>LSTM is a recurrent neural network designed to capture sequential dependencies via gated memory cells. It has been widely used for financial time-series because it can learn complex, non-linear temporal patterns that linear models cannot</a:t>
            </a:r>
            <a:endParaRPr sz="9600"/>
          </a:p>
          <a:p>
            <a:pPr indent="0" lvl="0" marL="0" rtl="0" algn="l">
              <a:spcBef>
                <a:spcPts val="0"/>
              </a:spcBef>
              <a:spcAft>
                <a:spcPts val="0"/>
              </a:spcAft>
              <a:buNone/>
            </a:pPr>
            <a:r>
              <a:t/>
            </a:r>
            <a:endParaRPr sz="9600"/>
          </a:p>
          <a:p>
            <a:pPr indent="0" lvl="0" marL="0" rtl="0" algn="l">
              <a:spcBef>
                <a:spcPts val="0"/>
              </a:spcBef>
              <a:spcAft>
                <a:spcPts val="0"/>
              </a:spcAft>
              <a:buNone/>
            </a:pPr>
            <a:r>
              <a:rPr lang="en-US" sz="9600"/>
              <a:t>LSTMs are not inherently interpretable. The stateful weights and non-linear activations make it hard to trace how inputs map to outputs.</a:t>
            </a:r>
            <a:endParaRPr sz="9600"/>
          </a:p>
          <a:p>
            <a:pPr indent="0" lvl="0" marL="0" rtl="0" algn="l">
              <a:spcBef>
                <a:spcPts val="0"/>
              </a:spcBef>
              <a:spcAft>
                <a:spcPts val="0"/>
              </a:spcAft>
              <a:buNone/>
            </a:pPr>
            <a:r>
              <a:t/>
            </a:r>
            <a:endParaRPr sz="9600"/>
          </a:p>
          <a:p>
            <a:pPr indent="0" lvl="0" marL="0" rtl="0" algn="l">
              <a:spcBef>
                <a:spcPts val="0"/>
              </a:spcBef>
              <a:spcAft>
                <a:spcPts val="0"/>
              </a:spcAft>
              <a:buNone/>
            </a:pPr>
            <a:r>
              <a:rPr lang="en-US" sz="9600"/>
              <a:t>LSTMs can overfit easily on noisy daily data, especially if the signal-to-noise ratio is low. They require large amounts of data and careful hyperparameter tuning.</a:t>
            </a:r>
            <a:endParaRPr sz="9600"/>
          </a:p>
        </p:txBody>
      </p:sp>
      <p:sp>
        <p:nvSpPr>
          <p:cNvPr id="120" name="Google Shape;120;p15"/>
          <p:cNvSpPr txBox="1"/>
          <p:nvPr/>
        </p:nvSpPr>
        <p:spPr>
          <a:xfrm>
            <a:off x="41062500" y="31089600"/>
            <a:ext cx="999900" cy="96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4800"/>
              <a:t>JR</a:t>
            </a:r>
            <a:endParaRPr sz="48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pic>
        <p:nvPicPr>
          <p:cNvPr id="126" name="Google Shape;126;p16"/>
          <p:cNvPicPr preferRelativeResize="0"/>
          <p:nvPr/>
        </p:nvPicPr>
        <p:blipFill>
          <a:blip r:embed="rId3">
            <a:alphaModFix/>
          </a:blip>
          <a:stretch>
            <a:fillRect/>
          </a:stretch>
        </p:blipFill>
        <p:spPr>
          <a:xfrm>
            <a:off x="1831525" y="5777263"/>
            <a:ext cx="40228151" cy="21363875"/>
          </a:xfrm>
          <a:prstGeom prst="rect">
            <a:avLst/>
          </a:prstGeom>
          <a:noFill/>
          <a:ln>
            <a:noFill/>
          </a:ln>
        </p:spPr>
      </p:pic>
      <p:sp>
        <p:nvSpPr>
          <p:cNvPr id="127" name="Google Shape;127;p16"/>
          <p:cNvSpPr txBox="1"/>
          <p:nvPr/>
        </p:nvSpPr>
        <p:spPr>
          <a:xfrm>
            <a:off x="1831525" y="2500125"/>
            <a:ext cx="39130800" cy="189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9600"/>
              <a:t>LSTM AAPL Equity</a:t>
            </a:r>
            <a:endParaRPr b="1" sz="9600"/>
          </a:p>
        </p:txBody>
      </p:sp>
      <p:sp>
        <p:nvSpPr>
          <p:cNvPr id="128" name="Google Shape;128;p16"/>
          <p:cNvSpPr txBox="1"/>
          <p:nvPr/>
        </p:nvSpPr>
        <p:spPr>
          <a:xfrm>
            <a:off x="41062500" y="31089600"/>
            <a:ext cx="999900" cy="96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4800"/>
              <a:t>JR</a:t>
            </a:r>
            <a:endParaRPr sz="48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pic>
        <p:nvPicPr>
          <p:cNvPr id="134" name="Google Shape;134;p17"/>
          <p:cNvPicPr preferRelativeResize="0"/>
          <p:nvPr/>
        </p:nvPicPr>
        <p:blipFill>
          <a:blip r:embed="rId3">
            <a:alphaModFix/>
          </a:blip>
          <a:stretch>
            <a:fillRect/>
          </a:stretch>
        </p:blipFill>
        <p:spPr>
          <a:xfrm>
            <a:off x="768800" y="4887063"/>
            <a:ext cx="42353599" cy="23144276"/>
          </a:xfrm>
          <a:prstGeom prst="rect">
            <a:avLst/>
          </a:prstGeom>
          <a:noFill/>
          <a:ln>
            <a:noFill/>
          </a:ln>
        </p:spPr>
      </p:pic>
      <p:sp>
        <p:nvSpPr>
          <p:cNvPr id="135" name="Google Shape;135;p17"/>
          <p:cNvSpPr txBox="1"/>
          <p:nvPr/>
        </p:nvSpPr>
        <p:spPr>
          <a:xfrm>
            <a:off x="1831525" y="2500125"/>
            <a:ext cx="39130800" cy="189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9600"/>
              <a:t>LSTM US10Y Bond</a:t>
            </a:r>
            <a:endParaRPr b="1" sz="9600"/>
          </a:p>
        </p:txBody>
      </p:sp>
      <p:sp>
        <p:nvSpPr>
          <p:cNvPr id="136" name="Google Shape;136;p17"/>
          <p:cNvSpPr txBox="1"/>
          <p:nvPr/>
        </p:nvSpPr>
        <p:spPr>
          <a:xfrm>
            <a:off x="41062500" y="31089600"/>
            <a:ext cx="999900" cy="96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4800"/>
              <a:t>JR</a:t>
            </a:r>
            <a:endParaRPr sz="48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18"/>
          <p:cNvSpPr txBox="1"/>
          <p:nvPr/>
        </p:nvSpPr>
        <p:spPr>
          <a:xfrm>
            <a:off x="4697225" y="7311000"/>
            <a:ext cx="34282200" cy="10493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9600"/>
              <a:t>Thank You</a:t>
            </a:r>
            <a:endParaRPr sz="9600"/>
          </a:p>
        </p:txBody>
      </p:sp>
      <p:sp>
        <p:nvSpPr>
          <p:cNvPr id="143" name="Google Shape;143;p18"/>
          <p:cNvSpPr txBox="1"/>
          <p:nvPr/>
        </p:nvSpPr>
        <p:spPr>
          <a:xfrm>
            <a:off x="3181975" y="17804100"/>
            <a:ext cx="12273300" cy="382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9600"/>
              <a:t>John Rizzo</a:t>
            </a:r>
            <a:endParaRPr sz="9600"/>
          </a:p>
          <a:p>
            <a:pPr indent="0" lvl="0" marL="0" rtl="0" algn="l">
              <a:spcBef>
                <a:spcPts val="0"/>
              </a:spcBef>
              <a:spcAft>
                <a:spcPts val="0"/>
              </a:spcAft>
              <a:buNone/>
            </a:pPr>
            <a:r>
              <a:rPr lang="en-US" sz="9600"/>
              <a:t>jrizzo2@stevens.edu</a:t>
            </a:r>
            <a:endParaRPr sz="9600"/>
          </a:p>
        </p:txBody>
      </p:sp>
      <p:sp>
        <p:nvSpPr>
          <p:cNvPr id="144" name="Google Shape;144;p18"/>
          <p:cNvSpPr txBox="1"/>
          <p:nvPr/>
        </p:nvSpPr>
        <p:spPr>
          <a:xfrm>
            <a:off x="15872050" y="17804100"/>
            <a:ext cx="13158900" cy="382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9600"/>
              <a:t>Matthew Kawaja</a:t>
            </a:r>
            <a:endParaRPr sz="9600"/>
          </a:p>
          <a:p>
            <a:pPr indent="0" lvl="0" marL="0" rtl="0" algn="l">
              <a:spcBef>
                <a:spcPts val="0"/>
              </a:spcBef>
              <a:spcAft>
                <a:spcPts val="0"/>
              </a:spcAft>
              <a:buNone/>
            </a:pPr>
            <a:r>
              <a:rPr lang="en-US" sz="9600"/>
              <a:t>mkawaja@stevens.edu</a:t>
            </a:r>
            <a:endParaRPr sz="9600"/>
          </a:p>
        </p:txBody>
      </p:sp>
      <p:sp>
        <p:nvSpPr>
          <p:cNvPr id="145" name="Google Shape;145;p18"/>
          <p:cNvSpPr txBox="1"/>
          <p:nvPr/>
        </p:nvSpPr>
        <p:spPr>
          <a:xfrm>
            <a:off x="28950900" y="17804100"/>
            <a:ext cx="13158900" cy="382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9600"/>
              <a:t>Leor Yomtobian</a:t>
            </a:r>
            <a:endParaRPr sz="9600"/>
          </a:p>
          <a:p>
            <a:pPr indent="0" lvl="0" marL="0" rtl="0" algn="l">
              <a:spcBef>
                <a:spcPts val="0"/>
              </a:spcBef>
              <a:spcAft>
                <a:spcPts val="0"/>
              </a:spcAft>
              <a:buNone/>
            </a:pPr>
            <a:r>
              <a:rPr lang="en-US" sz="9600"/>
              <a:t>lyomtobi@stevens.edu</a:t>
            </a:r>
            <a:endParaRPr sz="9600"/>
          </a:p>
        </p:txBody>
      </p:sp>
      <p:sp>
        <p:nvSpPr>
          <p:cNvPr id="146" name="Google Shape;146;p18"/>
          <p:cNvSpPr txBox="1"/>
          <p:nvPr/>
        </p:nvSpPr>
        <p:spPr>
          <a:xfrm>
            <a:off x="41062500" y="31089600"/>
            <a:ext cx="999900" cy="96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4800"/>
              <a:t>LY</a:t>
            </a:r>
            <a:endParaRPr sz="4800"/>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